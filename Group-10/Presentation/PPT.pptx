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grandir Bold" charset="1" panose="00000800000000000000"/>
      <p:regular r:id="rId16"/>
    </p:embeddedFont>
    <p:embeddedFont>
      <p:font typeface="Poppins" charset="1" panose="00000500000000000000"/>
      <p:regular r:id="rId17"/>
    </p:embeddedFont>
    <p:embeddedFont>
      <p:font typeface="Poppins Italics" charset="1" panose="00000500000000000000"/>
      <p:regular r:id="rId18"/>
    </p:embeddedFont>
    <p:embeddedFont>
      <p:font typeface="Agrandir" charset="1" panose="00000500000000000000"/>
      <p:regular r:id="rId19"/>
    </p:embeddedFont>
    <p:embeddedFont>
      <p:font typeface="Poppins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https://www.next-chapter.dev/subscription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https://www.next-chapter.dev/subscription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https://www.next-chapter.dev/subscription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https://www.next-chapter.dev/subscription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https://www.next-chapter.dev/subscription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https://www.next-chapter.dev/subscription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https://www.next-chapter.dev/subscription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78565" y="4707291"/>
            <a:ext cx="10050118" cy="6157981"/>
          </a:xfrm>
          <a:custGeom>
            <a:avLst/>
            <a:gdLst/>
            <a:ahLst/>
            <a:cxnLst/>
            <a:rect r="r" b="b" t="t" l="l"/>
            <a:pathLst>
              <a:path h="6157981" w="10050118">
                <a:moveTo>
                  <a:pt x="0" y="0"/>
                </a:moveTo>
                <a:lnTo>
                  <a:pt x="10050118" y="0"/>
                </a:lnTo>
                <a:lnTo>
                  <a:pt x="10050118" y="6157982"/>
                </a:lnTo>
                <a:lnTo>
                  <a:pt x="0" y="61579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733553" y="4757401"/>
            <a:ext cx="6759147" cy="3078211"/>
            <a:chOff x="0" y="0"/>
            <a:chExt cx="1230376" cy="5603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30376" cy="560331"/>
            </a:xfrm>
            <a:custGeom>
              <a:avLst/>
              <a:gdLst/>
              <a:ahLst/>
              <a:cxnLst/>
              <a:rect r="r" b="b" t="t" l="l"/>
              <a:pathLst>
                <a:path h="560331" w="1230376">
                  <a:moveTo>
                    <a:pt x="45816" y="0"/>
                  </a:moveTo>
                  <a:lnTo>
                    <a:pt x="1184560" y="0"/>
                  </a:lnTo>
                  <a:cubicBezTo>
                    <a:pt x="1196712" y="0"/>
                    <a:pt x="1208365" y="4827"/>
                    <a:pt x="1216957" y="13419"/>
                  </a:cubicBezTo>
                  <a:cubicBezTo>
                    <a:pt x="1225549" y="22011"/>
                    <a:pt x="1230376" y="33665"/>
                    <a:pt x="1230376" y="45816"/>
                  </a:cubicBezTo>
                  <a:lnTo>
                    <a:pt x="1230376" y="514515"/>
                  </a:lnTo>
                  <a:cubicBezTo>
                    <a:pt x="1230376" y="539818"/>
                    <a:pt x="1209864" y="560331"/>
                    <a:pt x="1184560" y="560331"/>
                  </a:cubicBezTo>
                  <a:lnTo>
                    <a:pt x="45816" y="560331"/>
                  </a:lnTo>
                  <a:cubicBezTo>
                    <a:pt x="33665" y="560331"/>
                    <a:pt x="22011" y="555504"/>
                    <a:pt x="13419" y="546912"/>
                  </a:cubicBezTo>
                  <a:cubicBezTo>
                    <a:pt x="4827" y="538319"/>
                    <a:pt x="0" y="526666"/>
                    <a:pt x="0" y="514515"/>
                  </a:cubicBezTo>
                  <a:lnTo>
                    <a:pt x="0" y="45816"/>
                  </a:lnTo>
                  <a:cubicBezTo>
                    <a:pt x="0" y="33665"/>
                    <a:pt x="4827" y="22011"/>
                    <a:pt x="13419" y="13419"/>
                  </a:cubicBezTo>
                  <a:cubicBezTo>
                    <a:pt x="22011" y="4827"/>
                    <a:pt x="33665" y="0"/>
                    <a:pt x="45816" y="0"/>
                  </a:cubicBezTo>
                  <a:close/>
                </a:path>
              </a:pathLst>
            </a:custGeom>
            <a:blipFill>
              <a:blip r:embed="rId4"/>
              <a:stretch>
                <a:fillRect l="-10466" t="-135533" r="-25959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733553" y="1526309"/>
            <a:ext cx="6759147" cy="3078211"/>
            <a:chOff x="0" y="0"/>
            <a:chExt cx="1230376" cy="5603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30376" cy="560331"/>
            </a:xfrm>
            <a:custGeom>
              <a:avLst/>
              <a:gdLst/>
              <a:ahLst/>
              <a:cxnLst/>
              <a:rect r="r" b="b" t="t" l="l"/>
              <a:pathLst>
                <a:path h="560331" w="1230376">
                  <a:moveTo>
                    <a:pt x="45816" y="0"/>
                  </a:moveTo>
                  <a:lnTo>
                    <a:pt x="1184560" y="0"/>
                  </a:lnTo>
                  <a:cubicBezTo>
                    <a:pt x="1196712" y="0"/>
                    <a:pt x="1208365" y="4827"/>
                    <a:pt x="1216957" y="13419"/>
                  </a:cubicBezTo>
                  <a:cubicBezTo>
                    <a:pt x="1225549" y="22011"/>
                    <a:pt x="1230376" y="33665"/>
                    <a:pt x="1230376" y="45816"/>
                  </a:cubicBezTo>
                  <a:lnTo>
                    <a:pt x="1230376" y="514515"/>
                  </a:lnTo>
                  <a:cubicBezTo>
                    <a:pt x="1230376" y="539818"/>
                    <a:pt x="1209864" y="560331"/>
                    <a:pt x="1184560" y="560331"/>
                  </a:cubicBezTo>
                  <a:lnTo>
                    <a:pt x="45816" y="560331"/>
                  </a:lnTo>
                  <a:cubicBezTo>
                    <a:pt x="33665" y="560331"/>
                    <a:pt x="22011" y="555504"/>
                    <a:pt x="13419" y="546912"/>
                  </a:cubicBezTo>
                  <a:cubicBezTo>
                    <a:pt x="4827" y="538319"/>
                    <a:pt x="0" y="526666"/>
                    <a:pt x="0" y="514515"/>
                  </a:cubicBezTo>
                  <a:lnTo>
                    <a:pt x="0" y="45816"/>
                  </a:lnTo>
                  <a:cubicBezTo>
                    <a:pt x="0" y="33665"/>
                    <a:pt x="4827" y="22011"/>
                    <a:pt x="13419" y="13419"/>
                  </a:cubicBezTo>
                  <a:cubicBezTo>
                    <a:pt x="22011" y="4827"/>
                    <a:pt x="33665" y="0"/>
                    <a:pt x="45816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025" r="0" b="-69619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>
            <a:off x="1028700" y="8851056"/>
            <a:ext cx="1623060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795300" y="4894990"/>
            <a:ext cx="3300656" cy="0"/>
          </a:xfrm>
          <a:prstGeom prst="line">
            <a:avLst/>
          </a:prstGeom>
          <a:ln cap="rnd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7056576" y="1526309"/>
            <a:ext cx="1688053" cy="1113701"/>
          </a:xfrm>
          <a:custGeom>
            <a:avLst/>
            <a:gdLst/>
            <a:ahLst/>
            <a:cxnLst/>
            <a:rect r="r" b="b" t="t" l="l"/>
            <a:pathLst>
              <a:path h="1113701" w="1688053">
                <a:moveTo>
                  <a:pt x="0" y="0"/>
                </a:moveTo>
                <a:lnTo>
                  <a:pt x="1688053" y="0"/>
                </a:lnTo>
                <a:lnTo>
                  <a:pt x="1688053" y="1113701"/>
                </a:lnTo>
                <a:lnTo>
                  <a:pt x="0" y="11137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259300" y="7336672"/>
            <a:ext cx="1512500" cy="997879"/>
          </a:xfrm>
          <a:custGeom>
            <a:avLst/>
            <a:gdLst/>
            <a:ahLst/>
            <a:cxnLst/>
            <a:rect r="r" b="b" t="t" l="l"/>
            <a:pathLst>
              <a:path h="997879" w="1512500">
                <a:moveTo>
                  <a:pt x="0" y="0"/>
                </a:moveTo>
                <a:lnTo>
                  <a:pt x="1512500" y="0"/>
                </a:lnTo>
                <a:lnTo>
                  <a:pt x="1512500" y="997879"/>
                </a:lnTo>
                <a:lnTo>
                  <a:pt x="0" y="9978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95300" y="7043990"/>
            <a:ext cx="1170727" cy="585364"/>
          </a:xfrm>
          <a:custGeom>
            <a:avLst/>
            <a:gdLst/>
            <a:ahLst/>
            <a:cxnLst/>
            <a:rect r="r" b="b" t="t" l="l"/>
            <a:pathLst>
              <a:path h="585364" w="1170727">
                <a:moveTo>
                  <a:pt x="0" y="0"/>
                </a:moveTo>
                <a:lnTo>
                  <a:pt x="1170727" y="0"/>
                </a:lnTo>
                <a:lnTo>
                  <a:pt x="1170727" y="585364"/>
                </a:lnTo>
                <a:lnTo>
                  <a:pt x="0" y="5853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1795300" y="3198089"/>
            <a:ext cx="7768585" cy="1521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39"/>
              </a:lnSpc>
            </a:pPr>
            <a:r>
              <a:rPr lang="en-US" sz="7599" b="true">
                <a:solidFill>
                  <a:srgbClr val="F5F5F5"/>
                </a:solidFill>
                <a:latin typeface="Agrandir Bold"/>
                <a:ea typeface="Agrandir Bold"/>
                <a:cs typeface="Agrandir Bold"/>
                <a:sym typeface="Agrandir Bold"/>
              </a:rPr>
              <a:t>Next Chapter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95300" y="5101323"/>
            <a:ext cx="6298590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Intelligent Reading &amp; Book Engagement Platform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95300" y="2215195"/>
            <a:ext cx="177210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Group-10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08381" y="8946442"/>
            <a:ext cx="468432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i="true" spc="240" u="sng">
                <a:solidFill>
                  <a:srgbClr val="F5F5F5"/>
                </a:solidFill>
                <a:latin typeface="Poppins Italics"/>
                <a:ea typeface="Poppins Italics"/>
                <a:cs typeface="Poppins Italics"/>
                <a:sym typeface="Poppins Italics"/>
                <a:hlinkClick r:id="rId9" tooltip="https://www.next-chapter.dev/subscription"/>
              </a:rPr>
              <a:t>www.next-chapter.dev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446676"/>
            <a:ext cx="16230600" cy="0"/>
          </a:xfrm>
          <a:prstGeom prst="line">
            <a:avLst/>
          </a:prstGeom>
          <a:ln cap="rnd" w="38100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2224071" y="776868"/>
            <a:ext cx="10166049" cy="0"/>
          </a:xfrm>
          <a:prstGeom prst="line">
            <a:avLst/>
          </a:prstGeom>
          <a:ln cap="flat" w="38100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925762" y="550496"/>
            <a:ext cx="772726" cy="386363"/>
          </a:xfrm>
          <a:custGeom>
            <a:avLst/>
            <a:gdLst/>
            <a:ahLst/>
            <a:cxnLst/>
            <a:rect r="r" b="b" t="t" l="l"/>
            <a:pathLst>
              <a:path h="386363" w="772726">
                <a:moveTo>
                  <a:pt x="0" y="0"/>
                </a:moveTo>
                <a:lnTo>
                  <a:pt x="772726" y="0"/>
                </a:lnTo>
                <a:lnTo>
                  <a:pt x="772726" y="386363"/>
                </a:lnTo>
                <a:lnTo>
                  <a:pt x="0" y="3863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25762" y="2686156"/>
          <a:ext cx="5652768" cy="5056511"/>
        </p:xfrm>
        <a:graphic>
          <a:graphicData uri="http://schemas.openxmlformats.org/drawingml/2006/table">
            <a:tbl>
              <a:tblPr/>
              <a:tblGrid>
                <a:gridCol w="4361410"/>
              </a:tblGrid>
              <a:tr h="104812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00000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Team Leader-</a:t>
                      </a:r>
                      <a:r>
                        <a:rPr lang="en-US" sz="2699">
                          <a:solidFill>
                            <a:srgbClr val="000000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 Prasanna Gupta [202301124]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8389">
                <a:tc>
                  <a:txBody>
                    <a:bodyPr anchor="t" rtlCol="false"/>
                    <a:lstStyle/>
                    <a:p>
                      <a:pPr algn="l" marL="539745" indent="-269872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System architecture</a:t>
                      </a:r>
                      <a:endParaRPr lang="en-US" sz="1100"/>
                    </a:p>
                    <a:p>
                      <a:pPr algn="l" marL="539745" indent="-269872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Profile &amp; Auth workflows</a:t>
                      </a:r>
                    </a:p>
                    <a:p>
                      <a:pPr algn="l" marL="539745" indent="-269872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Reading sync + progress</a:t>
                      </a:r>
                    </a:p>
                    <a:p>
                      <a:pPr algn="l" marL="539745" indent="-269872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Dashboards (User/Admin)</a:t>
                      </a:r>
                    </a:p>
                    <a:p>
                      <a:pPr algn="l" marL="539745" indent="-269872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Payments &amp; subscriptions</a:t>
                      </a:r>
                    </a:p>
                    <a:p>
                      <a:pPr algn="l" marL="539745" indent="-269872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Full UI/UX (Figma)</a:t>
                      </a:r>
                    </a:p>
                    <a:p>
                      <a:pPr algn="l" marL="539745" indent="-269872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Database normalization &amp; RLS</a:t>
                      </a:r>
                    </a:p>
                    <a:p>
                      <a:pPr algn="l" marL="539745" indent="-269872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Personalization epics</a:t>
                      </a:r>
                    </a:p>
                  </a:txBody>
                  <a:tcPr marL="0" marR="0" marT="0" marB="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2574980" y="512043"/>
            <a:ext cx="468432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i="true" spc="240" u="sng">
                <a:solidFill>
                  <a:srgbClr val="2B2B2B"/>
                </a:solidFill>
                <a:latin typeface="Poppins Italics"/>
                <a:ea typeface="Poppins Italics"/>
                <a:cs typeface="Poppins Italics"/>
                <a:sym typeface="Poppins Italics"/>
                <a:hlinkClick r:id="rId4" tooltip="https://www.next-chapter.dev/subscription"/>
              </a:rPr>
              <a:t>www.next-chapter.dev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6737352" y="1180272"/>
          <a:ext cx="10521948" cy="8003941"/>
        </p:xfrm>
        <a:graphic>
          <a:graphicData uri="http://schemas.openxmlformats.org/drawingml/2006/table">
            <a:tbl>
              <a:tblPr/>
              <a:tblGrid>
                <a:gridCol w="10521948"/>
              </a:tblGrid>
              <a:tr h="7960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true">
                          <a:solidFill>
                            <a:srgbClr val="000000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Members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07862">
                <a:tc>
                  <a:txBody>
                    <a:bodyPr anchor="t" rtlCol="false"/>
                    <a:lstStyle/>
                    <a:p>
                      <a:pPr algn="l" marL="410208" indent="-205104" lvl="1">
                        <a:lnSpc>
                          <a:spcPts val="3191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899">
                          <a:solidFill>
                            <a:srgbClr val="000000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Jhil [202301090]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— AI comment moderation, dictionary word search UAT, authentication stories, sprint documentation</a:t>
                      </a:r>
                      <a:endParaRPr lang="en-US" sz="1100"/>
                    </a:p>
                    <a:p>
                      <a:pPr algn="l" marL="410208" indent="-205104" lvl="1">
                        <a:lnSpc>
                          <a:spcPts val="3191"/>
                        </a:lnSpc>
                        <a:buFont typeface="Arial"/>
                        <a:buChar char="•"/>
                      </a:pPr>
                      <a:r>
                        <a:rPr lang="en-US" b="true" sz="1899">
                          <a:solidFill>
                            <a:srgbClr val="000000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Yashasvi 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[</a:t>
                      </a:r>
                      <a:r>
                        <a:rPr lang="en-US" b="true" sz="1899">
                          <a:solidFill>
                            <a:srgbClr val="000000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202301069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]— Ratings, comments, black-box/API testing, elicitation interviews</a:t>
                      </a:r>
                    </a:p>
                    <a:p>
                      <a:pPr algn="l" marL="410208" indent="-205104" lvl="1">
                        <a:lnSpc>
                          <a:spcPts val="3191"/>
                        </a:lnSpc>
                        <a:buFont typeface="Arial"/>
                        <a:buChar char="•"/>
                      </a:pPr>
                      <a:r>
                        <a:rPr lang="en-US" b="true" sz="1899">
                          <a:solidFill>
                            <a:srgbClr val="000000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Mudit [202301118]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 — Reade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r page, modes, AI chatbot/image generation,audiobook, bookmark/highlight, catalog metadata, elicitation [data analysis, forms]</a:t>
                      </a:r>
                    </a:p>
                    <a:p>
                      <a:pPr algn="l" marL="410208" indent="-205104" lvl="1">
                        <a:lnSpc>
                          <a:spcPts val="3191"/>
                        </a:lnSpc>
                        <a:buFont typeface="Arial"/>
                        <a:buChar char="•"/>
                      </a:pPr>
                      <a:r>
                        <a:rPr lang="en-US" b="true" sz="1899">
                          <a:solidFill>
                            <a:srgbClr val="000000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Kirtan [202301098] 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— AI r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ecommendations, adaptive learning, trending/high-rated pages, unit testing</a:t>
                      </a:r>
                    </a:p>
                    <a:p>
                      <a:pPr algn="l" marL="410208" indent="-205104" lvl="1">
                        <a:lnSpc>
                          <a:spcPts val="3191"/>
                        </a:lnSpc>
                        <a:buFont typeface="Arial"/>
                        <a:buChar char="•"/>
                      </a:pPr>
                      <a:r>
                        <a:rPr lang="en-US" b="true" sz="1899">
                          <a:solidFill>
                            <a:srgbClr val="000000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Kavya [202301116]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 — Authentication, personalization DB, email alerts, offline reading, deployment, mutation testing</a:t>
                      </a:r>
                    </a:p>
                    <a:p>
                      <a:pPr algn="l" marL="431797" indent="-215899" lvl="1">
                        <a:lnSpc>
                          <a:spcPts val="3359"/>
                        </a:lnSpc>
                        <a:buFont typeface="Arial"/>
                        <a:buChar char="•"/>
                      </a:pPr>
                      <a:r>
                        <a:rPr lang="en-US" b="true" sz="1999">
                          <a:solidFill>
                            <a:srgbClr val="000000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Namra [202301130]</a:t>
                      </a:r>
                      <a:r>
                        <a:rPr lang="en-US" sz="1999">
                          <a:solidFill>
                            <a:srgbClr val="000000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 — User d</a:t>
                      </a:r>
                      <a:r>
                        <a:rPr lang="en-US" sz="1999">
                          <a:solidFill>
                            <a:srgbClr val="000000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ashboard frontend, book detail frontnend, admin stories, class diagrams</a:t>
                      </a:r>
                    </a:p>
                    <a:p>
                      <a:pPr algn="l" marL="410208" indent="-205104" lvl="1">
                        <a:lnSpc>
                          <a:spcPts val="3191"/>
                        </a:lnSpc>
                        <a:buFont typeface="Arial"/>
                        <a:buChar char="•"/>
                      </a:pPr>
                      <a:r>
                        <a:rPr lang="en-US" b="true" sz="1899">
                          <a:solidFill>
                            <a:srgbClr val="000000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Sri Sadana [202301121] 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— Bookmarking/highlighting, GUI + Non-functional testing, payment and subscription stories, elicitation interview, epic documentation</a:t>
                      </a:r>
                    </a:p>
                    <a:p>
                      <a:pPr algn="l" marL="410208" indent="-205104" lvl="1">
                        <a:lnSpc>
                          <a:spcPts val="3191"/>
                        </a:lnSpc>
                        <a:buFont typeface="Arial"/>
                        <a:buChar char="•"/>
                      </a:pPr>
                      <a:r>
                        <a:rPr lang="en-US" b="true" sz="1899">
                          <a:solidFill>
                            <a:srgbClr val="000000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Meet [202301073] 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— Landing frontnend, subscription frontend, object diagrams, elicitation interviews</a:t>
                      </a:r>
                    </a:p>
                    <a:p>
                      <a:pPr algn="l" marL="410208" indent="-205104" lvl="1">
                        <a:lnSpc>
                          <a:spcPts val="3191"/>
                        </a:lnSpc>
                        <a:buFont typeface="Arial"/>
                        <a:buChar char="•"/>
                      </a:pPr>
                      <a:r>
                        <a:rPr lang="en-US" b="true" sz="1899">
                          <a:solidFill>
                            <a:srgbClr val="000000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Parv [202301112] 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— Login/Signup, forgot password, admin UI, sequence diagrams, frontend mutation testing</a:t>
                      </a:r>
                    </a:p>
                  </a:txBody>
                  <a:tcPr marL="0" marR="0" marT="0" marB="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97000" y="4579644"/>
            <a:ext cx="7547697" cy="3315305"/>
            <a:chOff x="0" y="0"/>
            <a:chExt cx="940634" cy="4131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0634" cy="413171"/>
            </a:xfrm>
            <a:custGeom>
              <a:avLst/>
              <a:gdLst/>
              <a:ahLst/>
              <a:cxnLst/>
              <a:rect r="r" b="b" t="t" l="l"/>
              <a:pathLst>
                <a:path h="413171" w="940634">
                  <a:moveTo>
                    <a:pt x="51287" y="0"/>
                  </a:moveTo>
                  <a:lnTo>
                    <a:pt x="889347" y="0"/>
                  </a:lnTo>
                  <a:cubicBezTo>
                    <a:pt x="902949" y="0"/>
                    <a:pt x="915994" y="5403"/>
                    <a:pt x="925613" y="15022"/>
                  </a:cubicBezTo>
                  <a:cubicBezTo>
                    <a:pt x="935231" y="24640"/>
                    <a:pt x="940634" y="37685"/>
                    <a:pt x="940634" y="51287"/>
                  </a:cubicBezTo>
                  <a:lnTo>
                    <a:pt x="940634" y="361884"/>
                  </a:lnTo>
                  <a:cubicBezTo>
                    <a:pt x="940634" y="375486"/>
                    <a:pt x="935231" y="388531"/>
                    <a:pt x="925613" y="398149"/>
                  </a:cubicBezTo>
                  <a:cubicBezTo>
                    <a:pt x="915994" y="407768"/>
                    <a:pt x="902949" y="413171"/>
                    <a:pt x="889347" y="413171"/>
                  </a:cubicBezTo>
                  <a:lnTo>
                    <a:pt x="51287" y="413171"/>
                  </a:lnTo>
                  <a:cubicBezTo>
                    <a:pt x="37685" y="413171"/>
                    <a:pt x="24640" y="407768"/>
                    <a:pt x="15022" y="398149"/>
                  </a:cubicBezTo>
                  <a:cubicBezTo>
                    <a:pt x="5403" y="388531"/>
                    <a:pt x="0" y="375486"/>
                    <a:pt x="0" y="361884"/>
                  </a:cubicBezTo>
                  <a:lnTo>
                    <a:pt x="0" y="51287"/>
                  </a:lnTo>
                  <a:cubicBezTo>
                    <a:pt x="0" y="37685"/>
                    <a:pt x="5403" y="24640"/>
                    <a:pt x="15022" y="15022"/>
                  </a:cubicBezTo>
                  <a:cubicBezTo>
                    <a:pt x="24640" y="5403"/>
                    <a:pt x="37685" y="0"/>
                    <a:pt x="51287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8350" r="-124342" b="-1508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424050" y="2100270"/>
            <a:ext cx="4687255" cy="208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Our Objectives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819611" y="1998508"/>
            <a:ext cx="5146916" cy="5896442"/>
            <a:chOff x="0" y="0"/>
            <a:chExt cx="6862554" cy="786192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130169"/>
              <a:ext cx="653035" cy="611730"/>
              <a:chOff x="0" y="0"/>
              <a:chExt cx="867682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676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67682">
                    <a:moveTo>
                      <a:pt x="433841" y="0"/>
                    </a:moveTo>
                    <a:cubicBezTo>
                      <a:pt x="194237" y="0"/>
                      <a:pt x="0" y="181951"/>
                      <a:pt x="0" y="406400"/>
                    </a:cubicBezTo>
                    <a:cubicBezTo>
                      <a:pt x="0" y="630849"/>
                      <a:pt x="194237" y="812800"/>
                      <a:pt x="433841" y="812800"/>
                    </a:cubicBezTo>
                    <a:cubicBezTo>
                      <a:pt x="673445" y="812800"/>
                      <a:pt x="867682" y="630849"/>
                      <a:pt x="867682" y="406400"/>
                    </a:cubicBezTo>
                    <a:cubicBezTo>
                      <a:pt x="867682" y="181951"/>
                      <a:pt x="673445" y="0"/>
                      <a:pt x="433841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81345" y="-9525"/>
                <a:ext cx="704992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1055010" y="-66675"/>
              <a:ext cx="5807544" cy="938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Modern dig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ital library with seamles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 reading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0" y="1528140"/>
              <a:ext cx="600131" cy="611730"/>
              <a:chOff x="0" y="0"/>
              <a:chExt cx="797389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9738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97389">
                    <a:moveTo>
                      <a:pt x="398694" y="0"/>
                    </a:moveTo>
                    <a:cubicBezTo>
                      <a:pt x="178502" y="0"/>
                      <a:pt x="0" y="181951"/>
                      <a:pt x="0" y="406400"/>
                    </a:cubicBezTo>
                    <a:cubicBezTo>
                      <a:pt x="0" y="630849"/>
                      <a:pt x="178502" y="812800"/>
                      <a:pt x="398694" y="812800"/>
                    </a:cubicBezTo>
                    <a:cubicBezTo>
                      <a:pt x="618887" y="812800"/>
                      <a:pt x="797389" y="630849"/>
                      <a:pt x="797389" y="406400"/>
                    </a:cubicBezTo>
                    <a:cubicBezTo>
                      <a:pt x="797389" y="181951"/>
                      <a:pt x="618887" y="0"/>
                      <a:pt x="398694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4755" y="-9525"/>
                <a:ext cx="647879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969541" y="1331296"/>
              <a:ext cx="5893013" cy="938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AI-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based person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alization &amp; safe content moderation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988279" y="2729267"/>
              <a:ext cx="5874275" cy="938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Reading a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nalytics with progress, goals, 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insights</a:t>
              </a:r>
            </a:p>
          </p:txBody>
        </p:sp>
        <p:grpSp>
          <p:nvGrpSpPr>
            <p:cNvPr name="Group 15" id="15"/>
            <p:cNvGrpSpPr/>
            <p:nvPr/>
          </p:nvGrpSpPr>
          <p:grpSpPr>
            <a:xfrm rot="0">
              <a:off x="0" y="2926111"/>
              <a:ext cx="611730" cy="61173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988279" y="4127238"/>
              <a:ext cx="5874275" cy="938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Subscription mo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netization with premium fea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tures</a:t>
              </a:r>
            </a:p>
          </p:txBody>
        </p:sp>
        <p:grpSp>
          <p:nvGrpSpPr>
            <p:cNvPr name="Group 19" id="19"/>
            <p:cNvGrpSpPr/>
            <p:nvPr/>
          </p:nvGrpSpPr>
          <p:grpSpPr>
            <a:xfrm rot="0">
              <a:off x="0" y="4324082"/>
              <a:ext cx="611730" cy="611730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988279" y="5525209"/>
              <a:ext cx="5874275" cy="938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Robust admin 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tools for content &amp; user ma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nagement</a:t>
              </a:r>
            </a:p>
          </p:txBody>
        </p:sp>
        <p:grpSp>
          <p:nvGrpSpPr>
            <p:cNvPr name="Group 23" id="23"/>
            <p:cNvGrpSpPr/>
            <p:nvPr/>
          </p:nvGrpSpPr>
          <p:grpSpPr>
            <a:xfrm rot="0">
              <a:off x="0" y="5722053"/>
              <a:ext cx="611730" cy="611730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1057860" y="6923180"/>
              <a:ext cx="5804695" cy="938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Impr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oved UX for higher rea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der engagement</a:t>
              </a:r>
            </a:p>
          </p:txBody>
        </p:sp>
        <p:grpSp>
          <p:nvGrpSpPr>
            <p:cNvPr name="Group 27" id="27"/>
            <p:cNvGrpSpPr/>
            <p:nvPr/>
          </p:nvGrpSpPr>
          <p:grpSpPr>
            <a:xfrm rot="0">
              <a:off x="0" y="7120024"/>
              <a:ext cx="617151" cy="611730"/>
              <a:chOff x="0" y="0"/>
              <a:chExt cx="820004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20004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20004">
                    <a:moveTo>
                      <a:pt x="410002" y="0"/>
                    </a:moveTo>
                    <a:cubicBezTo>
                      <a:pt x="183564" y="0"/>
                      <a:pt x="0" y="181951"/>
                      <a:pt x="0" y="406400"/>
                    </a:cubicBezTo>
                    <a:cubicBezTo>
                      <a:pt x="0" y="630849"/>
                      <a:pt x="183564" y="812800"/>
                      <a:pt x="410002" y="812800"/>
                    </a:cubicBezTo>
                    <a:cubicBezTo>
                      <a:pt x="636440" y="812800"/>
                      <a:pt x="820004" y="630849"/>
                      <a:pt x="820004" y="406400"/>
                    </a:cubicBezTo>
                    <a:cubicBezTo>
                      <a:pt x="820004" y="181951"/>
                      <a:pt x="636440" y="0"/>
                      <a:pt x="410002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875" y="-9525"/>
                <a:ext cx="666253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</p:grpSp>
      <p:sp>
        <p:nvSpPr>
          <p:cNvPr name="AutoShape 30" id="30"/>
          <p:cNvSpPr/>
          <p:nvPr/>
        </p:nvSpPr>
        <p:spPr>
          <a:xfrm>
            <a:off x="1028700" y="9258300"/>
            <a:ext cx="16230600" cy="0"/>
          </a:xfrm>
          <a:prstGeom prst="line">
            <a:avLst/>
          </a:prstGeom>
          <a:ln cap="rnd" w="38100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10544623" y="1226850"/>
            <a:ext cx="1995805" cy="0"/>
          </a:xfrm>
          <a:prstGeom prst="line">
            <a:avLst/>
          </a:prstGeom>
          <a:ln cap="flat" w="38100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2" id="32"/>
          <p:cNvSpPr/>
          <p:nvPr/>
        </p:nvSpPr>
        <p:spPr>
          <a:xfrm flipH="false" flipV="false" rot="-5400000">
            <a:off x="16123004" y="7328381"/>
            <a:ext cx="1369233" cy="903359"/>
          </a:xfrm>
          <a:custGeom>
            <a:avLst/>
            <a:gdLst/>
            <a:ahLst/>
            <a:cxnLst/>
            <a:rect r="r" b="b" t="t" l="l"/>
            <a:pathLst>
              <a:path h="903359" w="1369233">
                <a:moveTo>
                  <a:pt x="0" y="0"/>
                </a:moveTo>
                <a:lnTo>
                  <a:pt x="1369233" y="0"/>
                </a:lnTo>
                <a:lnTo>
                  <a:pt x="1369233" y="903358"/>
                </a:lnTo>
                <a:lnTo>
                  <a:pt x="0" y="9033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5970849" y="2096134"/>
            <a:ext cx="1766620" cy="883310"/>
          </a:xfrm>
          <a:custGeom>
            <a:avLst/>
            <a:gdLst/>
            <a:ahLst/>
            <a:cxnLst/>
            <a:rect r="r" b="b" t="t" l="l"/>
            <a:pathLst>
              <a:path h="883310" w="1766620">
                <a:moveTo>
                  <a:pt x="0" y="0"/>
                </a:moveTo>
                <a:lnTo>
                  <a:pt x="1766620" y="0"/>
                </a:lnTo>
                <a:lnTo>
                  <a:pt x="1766620" y="883310"/>
                </a:lnTo>
                <a:lnTo>
                  <a:pt x="0" y="8833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4" id="34"/>
          <p:cNvSpPr txBox="true"/>
          <p:nvPr/>
        </p:nvSpPr>
        <p:spPr>
          <a:xfrm rot="0">
            <a:off x="12540428" y="962025"/>
            <a:ext cx="468432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i="true" spc="240" u="sng">
                <a:solidFill>
                  <a:srgbClr val="2B2B2B"/>
                </a:solidFill>
                <a:latin typeface="Poppins Italics"/>
                <a:ea typeface="Poppins Italics"/>
                <a:cs typeface="Poppins Italics"/>
                <a:sym typeface="Poppins Italics"/>
                <a:hlinkClick r:id="rId7" tooltip="https://www.next-chapter.dev/subscription"/>
              </a:rPr>
              <a:t>www.next-chapter.dev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68983" y="911748"/>
            <a:ext cx="6486416" cy="7576173"/>
            <a:chOff x="0" y="0"/>
            <a:chExt cx="1004915" cy="11737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4916" cy="1173747"/>
            </a:xfrm>
            <a:custGeom>
              <a:avLst/>
              <a:gdLst/>
              <a:ahLst/>
              <a:cxnLst/>
              <a:rect r="r" b="b" t="t" l="l"/>
              <a:pathLst>
                <a:path h="1173747" w="1004916">
                  <a:moveTo>
                    <a:pt x="59678" y="0"/>
                  </a:moveTo>
                  <a:lnTo>
                    <a:pt x="945238" y="0"/>
                  </a:lnTo>
                  <a:cubicBezTo>
                    <a:pt x="961065" y="0"/>
                    <a:pt x="976244" y="6287"/>
                    <a:pt x="987436" y="17479"/>
                  </a:cubicBezTo>
                  <a:cubicBezTo>
                    <a:pt x="998628" y="28671"/>
                    <a:pt x="1004916" y="43850"/>
                    <a:pt x="1004916" y="59678"/>
                  </a:cubicBezTo>
                  <a:lnTo>
                    <a:pt x="1004916" y="1114069"/>
                  </a:lnTo>
                  <a:cubicBezTo>
                    <a:pt x="1004916" y="1129897"/>
                    <a:pt x="998628" y="1145076"/>
                    <a:pt x="987436" y="1156268"/>
                  </a:cubicBezTo>
                  <a:cubicBezTo>
                    <a:pt x="976244" y="1167460"/>
                    <a:pt x="961065" y="1173747"/>
                    <a:pt x="945238" y="1173747"/>
                  </a:cubicBezTo>
                  <a:lnTo>
                    <a:pt x="59678" y="1173747"/>
                  </a:lnTo>
                  <a:cubicBezTo>
                    <a:pt x="43850" y="1173747"/>
                    <a:pt x="28671" y="1167460"/>
                    <a:pt x="17479" y="1156268"/>
                  </a:cubicBezTo>
                  <a:cubicBezTo>
                    <a:pt x="6287" y="1145076"/>
                    <a:pt x="0" y="1129897"/>
                    <a:pt x="0" y="1114069"/>
                  </a:cubicBezTo>
                  <a:lnTo>
                    <a:pt x="0" y="59678"/>
                  </a:lnTo>
                  <a:cubicBezTo>
                    <a:pt x="0" y="43850"/>
                    <a:pt x="6287" y="28671"/>
                    <a:pt x="17479" y="17479"/>
                  </a:cubicBezTo>
                  <a:cubicBezTo>
                    <a:pt x="28671" y="6287"/>
                    <a:pt x="43850" y="0"/>
                    <a:pt x="59678" y="0"/>
                  </a:cubicBezTo>
                  <a:close/>
                </a:path>
              </a:pathLst>
            </a:custGeom>
            <a:blipFill>
              <a:blip r:embed="rId2"/>
              <a:stretch>
                <a:fillRect l="-52707" t="0" r="-7030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91526" y="1690232"/>
            <a:ext cx="4932143" cy="208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The Milestones</a:t>
            </a:r>
          </a:p>
        </p:txBody>
      </p:sp>
      <p:sp>
        <p:nvSpPr>
          <p:cNvPr name="AutoShape 5" id="5"/>
          <p:cNvSpPr/>
          <p:nvPr/>
        </p:nvSpPr>
        <p:spPr>
          <a:xfrm>
            <a:off x="1028700" y="9258300"/>
            <a:ext cx="16230600" cy="0"/>
          </a:xfrm>
          <a:prstGeom prst="line">
            <a:avLst/>
          </a:prstGeom>
          <a:ln cap="rnd" w="38100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5808445" y="1226850"/>
            <a:ext cx="1069206" cy="0"/>
          </a:xfrm>
          <a:prstGeom prst="line">
            <a:avLst/>
          </a:prstGeom>
          <a:ln cap="flat" w="38100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281058" y="7846543"/>
            <a:ext cx="1190164" cy="785217"/>
          </a:xfrm>
          <a:custGeom>
            <a:avLst/>
            <a:gdLst/>
            <a:ahLst/>
            <a:cxnLst/>
            <a:rect r="r" b="b" t="t" l="l"/>
            <a:pathLst>
              <a:path h="785217" w="1190164">
                <a:moveTo>
                  <a:pt x="0" y="0"/>
                </a:moveTo>
                <a:lnTo>
                  <a:pt x="1190164" y="0"/>
                </a:lnTo>
                <a:lnTo>
                  <a:pt x="1190164" y="785216"/>
                </a:lnTo>
                <a:lnTo>
                  <a:pt x="0" y="7852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599570" y="1696682"/>
            <a:ext cx="1609422" cy="804711"/>
          </a:xfrm>
          <a:custGeom>
            <a:avLst/>
            <a:gdLst/>
            <a:ahLst/>
            <a:cxnLst/>
            <a:rect r="r" b="b" t="t" l="l"/>
            <a:pathLst>
              <a:path h="804711" w="1609422">
                <a:moveTo>
                  <a:pt x="0" y="0"/>
                </a:moveTo>
                <a:lnTo>
                  <a:pt x="1609422" y="0"/>
                </a:lnTo>
                <a:lnTo>
                  <a:pt x="1609422" y="804712"/>
                </a:lnTo>
                <a:lnTo>
                  <a:pt x="0" y="8047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1491526" y="4436444"/>
            <a:ext cx="9848171" cy="3459850"/>
            <a:chOff x="0" y="0"/>
            <a:chExt cx="13130894" cy="4613133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53035" cy="611730"/>
              <a:chOff x="0" y="0"/>
              <a:chExt cx="867682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676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67682">
                    <a:moveTo>
                      <a:pt x="433841" y="0"/>
                    </a:moveTo>
                    <a:cubicBezTo>
                      <a:pt x="194237" y="0"/>
                      <a:pt x="0" y="181951"/>
                      <a:pt x="0" y="406400"/>
                    </a:cubicBezTo>
                    <a:cubicBezTo>
                      <a:pt x="0" y="630849"/>
                      <a:pt x="194237" y="812800"/>
                      <a:pt x="433841" y="812800"/>
                    </a:cubicBezTo>
                    <a:cubicBezTo>
                      <a:pt x="673445" y="812800"/>
                      <a:pt x="867682" y="630849"/>
                      <a:pt x="867682" y="406400"/>
                    </a:cubicBezTo>
                    <a:cubicBezTo>
                      <a:pt x="867682" y="181951"/>
                      <a:pt x="673445" y="0"/>
                      <a:pt x="433841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81345" y="-9525"/>
                <a:ext cx="704992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971680" y="38106"/>
              <a:ext cx="5240900" cy="468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Core Au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thentication +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Profile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26452" y="1332887"/>
              <a:ext cx="600131" cy="611730"/>
              <a:chOff x="0" y="0"/>
              <a:chExt cx="797389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79738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97389">
                    <a:moveTo>
                      <a:pt x="398694" y="0"/>
                    </a:moveTo>
                    <a:cubicBezTo>
                      <a:pt x="178502" y="0"/>
                      <a:pt x="0" y="181951"/>
                      <a:pt x="0" y="406400"/>
                    </a:cubicBezTo>
                    <a:cubicBezTo>
                      <a:pt x="0" y="630849"/>
                      <a:pt x="178502" y="812800"/>
                      <a:pt x="398694" y="812800"/>
                    </a:cubicBezTo>
                    <a:cubicBezTo>
                      <a:pt x="618887" y="812800"/>
                      <a:pt x="797389" y="630849"/>
                      <a:pt x="797389" y="406400"/>
                    </a:cubicBezTo>
                    <a:cubicBezTo>
                      <a:pt x="797389" y="181951"/>
                      <a:pt x="618887" y="0"/>
                      <a:pt x="398694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4755" y="-9525"/>
                <a:ext cx="647879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971680" y="1436078"/>
              <a:ext cx="4093087" cy="468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ading Eng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ine + Sync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971680" y="2703880"/>
              <a:ext cx="4524330" cy="468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Commu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nity + Moderat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ion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951028" y="4039510"/>
              <a:ext cx="6781718" cy="468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Admi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 + Analyt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ics + AI Enhancements</a:t>
              </a:r>
            </a:p>
          </p:txBody>
        </p:sp>
        <p:grpSp>
          <p:nvGrpSpPr>
            <p:cNvPr name="Group 20" id="20"/>
            <p:cNvGrpSpPr/>
            <p:nvPr/>
          </p:nvGrpSpPr>
          <p:grpSpPr>
            <a:xfrm rot="0">
              <a:off x="20653" y="2665774"/>
              <a:ext cx="611730" cy="611730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0" y="4001403"/>
              <a:ext cx="611730" cy="611730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8089918" y="38106"/>
              <a:ext cx="3657699" cy="468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Personal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ization + AI</a:t>
              </a:r>
            </a:p>
          </p:txBody>
        </p:sp>
        <p:grpSp>
          <p:nvGrpSpPr>
            <p:cNvPr name="Group 27" id="27"/>
            <p:cNvGrpSpPr/>
            <p:nvPr/>
          </p:nvGrpSpPr>
          <p:grpSpPr>
            <a:xfrm rot="0">
              <a:off x="7121016" y="0"/>
              <a:ext cx="611730" cy="611730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8089918" y="1436078"/>
              <a:ext cx="5040976" cy="468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Advan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ced Readi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ng + Offline</a:t>
              </a:r>
            </a:p>
          </p:txBody>
        </p:sp>
        <p:grpSp>
          <p:nvGrpSpPr>
            <p:cNvPr name="Group 31" id="31"/>
            <p:cNvGrpSpPr/>
            <p:nvPr/>
          </p:nvGrpSpPr>
          <p:grpSpPr>
            <a:xfrm rot="0">
              <a:off x="7121016" y="1397971"/>
              <a:ext cx="611730" cy="611730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8089918" y="2834049"/>
              <a:ext cx="4838068" cy="468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ayments/Subscriptions</a:t>
              </a:r>
            </a:p>
          </p:txBody>
        </p:sp>
        <p:grpSp>
          <p:nvGrpSpPr>
            <p:cNvPr name="Group 35" id="35"/>
            <p:cNvGrpSpPr/>
            <p:nvPr/>
          </p:nvGrpSpPr>
          <p:grpSpPr>
            <a:xfrm rot="0">
              <a:off x="7118305" y="2795942"/>
              <a:ext cx="617151" cy="611730"/>
              <a:chOff x="0" y="0"/>
              <a:chExt cx="820004" cy="8128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20004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20004">
                    <a:moveTo>
                      <a:pt x="410002" y="0"/>
                    </a:moveTo>
                    <a:cubicBezTo>
                      <a:pt x="183564" y="0"/>
                      <a:pt x="0" y="181951"/>
                      <a:pt x="0" y="406400"/>
                    </a:cubicBezTo>
                    <a:cubicBezTo>
                      <a:pt x="0" y="630849"/>
                      <a:pt x="183564" y="812800"/>
                      <a:pt x="410002" y="812800"/>
                    </a:cubicBezTo>
                    <a:cubicBezTo>
                      <a:pt x="636440" y="812800"/>
                      <a:pt x="820004" y="630849"/>
                      <a:pt x="820004" y="406400"/>
                    </a:cubicBezTo>
                    <a:cubicBezTo>
                      <a:pt x="820004" y="181951"/>
                      <a:pt x="636440" y="0"/>
                      <a:pt x="410002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76875" y="-9525"/>
                <a:ext cx="666253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</p:grpSp>
      <p:sp>
        <p:nvSpPr>
          <p:cNvPr name="TextBox 38" id="38"/>
          <p:cNvSpPr txBox="true"/>
          <p:nvPr/>
        </p:nvSpPr>
        <p:spPr>
          <a:xfrm rot="0">
            <a:off x="6877651" y="962025"/>
            <a:ext cx="468432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i="true" spc="240" u="sng">
                <a:solidFill>
                  <a:srgbClr val="2B2B2B"/>
                </a:solidFill>
                <a:latin typeface="Poppins Italics"/>
                <a:ea typeface="Poppins Italics"/>
                <a:cs typeface="Poppins Italics"/>
                <a:sym typeface="Poppins Italics"/>
                <a:hlinkClick r:id="rId7" tooltip="https://www.next-chapter.dev/subscription"/>
              </a:rPr>
              <a:t>www.next-chapter.dev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64627" y="2076482"/>
            <a:ext cx="6614031" cy="6059300"/>
            <a:chOff x="0" y="0"/>
            <a:chExt cx="1004918" cy="9206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4918" cy="920634"/>
            </a:xfrm>
            <a:custGeom>
              <a:avLst/>
              <a:gdLst/>
              <a:ahLst/>
              <a:cxnLst/>
              <a:rect r="r" b="b" t="t" l="l"/>
              <a:pathLst>
                <a:path h="920634" w="1004918">
                  <a:moveTo>
                    <a:pt x="60868" y="0"/>
                  </a:moveTo>
                  <a:lnTo>
                    <a:pt x="944050" y="0"/>
                  </a:lnTo>
                  <a:cubicBezTo>
                    <a:pt x="977667" y="0"/>
                    <a:pt x="1004918" y="27251"/>
                    <a:pt x="1004918" y="60868"/>
                  </a:cubicBezTo>
                  <a:lnTo>
                    <a:pt x="1004918" y="859766"/>
                  </a:lnTo>
                  <a:cubicBezTo>
                    <a:pt x="1004918" y="875909"/>
                    <a:pt x="998505" y="891391"/>
                    <a:pt x="987090" y="902806"/>
                  </a:cubicBezTo>
                  <a:cubicBezTo>
                    <a:pt x="975675" y="914221"/>
                    <a:pt x="960193" y="920634"/>
                    <a:pt x="944050" y="920634"/>
                  </a:cubicBezTo>
                  <a:lnTo>
                    <a:pt x="60868" y="920634"/>
                  </a:lnTo>
                  <a:cubicBezTo>
                    <a:pt x="27251" y="920634"/>
                    <a:pt x="0" y="893382"/>
                    <a:pt x="0" y="859766"/>
                  </a:cubicBezTo>
                  <a:lnTo>
                    <a:pt x="0" y="60868"/>
                  </a:lnTo>
                  <a:cubicBezTo>
                    <a:pt x="0" y="27251"/>
                    <a:pt x="27251" y="0"/>
                    <a:pt x="60868" y="0"/>
                  </a:cubicBezTo>
                  <a:close/>
                </a:path>
              </a:pathLst>
            </a:custGeom>
            <a:blipFill>
              <a:blip r:embed="rId2"/>
              <a:stretch>
                <a:fillRect l="-87443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521821" y="971550"/>
            <a:ext cx="5434182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Sprint Backlogs</a:t>
            </a:r>
          </a:p>
        </p:txBody>
      </p:sp>
      <p:sp>
        <p:nvSpPr>
          <p:cNvPr name="AutoShape 5" id="5"/>
          <p:cNvSpPr/>
          <p:nvPr/>
        </p:nvSpPr>
        <p:spPr>
          <a:xfrm>
            <a:off x="1028700" y="9258300"/>
            <a:ext cx="16230600" cy="0"/>
          </a:xfrm>
          <a:prstGeom prst="line">
            <a:avLst/>
          </a:prstGeom>
          <a:ln cap="rnd" w="38100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0544623" y="1226850"/>
            <a:ext cx="1995805" cy="0"/>
          </a:xfrm>
          <a:prstGeom prst="line">
            <a:avLst/>
          </a:prstGeom>
          <a:ln cap="flat" w="38100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-5400000">
            <a:off x="16540130" y="6995621"/>
            <a:ext cx="1369233" cy="903359"/>
          </a:xfrm>
          <a:custGeom>
            <a:avLst/>
            <a:gdLst/>
            <a:ahLst/>
            <a:cxnLst/>
            <a:rect r="r" b="b" t="t" l="l"/>
            <a:pathLst>
              <a:path h="903359" w="1369233">
                <a:moveTo>
                  <a:pt x="0" y="0"/>
                </a:moveTo>
                <a:lnTo>
                  <a:pt x="1369234" y="0"/>
                </a:lnTo>
                <a:lnTo>
                  <a:pt x="1369234" y="903358"/>
                </a:lnTo>
                <a:lnTo>
                  <a:pt x="0" y="9033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27465" y="1445703"/>
            <a:ext cx="956081" cy="630779"/>
          </a:xfrm>
          <a:custGeom>
            <a:avLst/>
            <a:gdLst/>
            <a:ahLst/>
            <a:cxnLst/>
            <a:rect r="r" b="b" t="t" l="l"/>
            <a:pathLst>
              <a:path h="630779" w="956081">
                <a:moveTo>
                  <a:pt x="0" y="0"/>
                </a:moveTo>
                <a:lnTo>
                  <a:pt x="956080" y="0"/>
                </a:lnTo>
                <a:lnTo>
                  <a:pt x="956080" y="630779"/>
                </a:lnTo>
                <a:lnTo>
                  <a:pt x="0" y="6307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447408" y="1004048"/>
            <a:ext cx="1766620" cy="883310"/>
          </a:xfrm>
          <a:custGeom>
            <a:avLst/>
            <a:gdLst/>
            <a:ahLst/>
            <a:cxnLst/>
            <a:rect r="r" b="b" t="t" l="l"/>
            <a:pathLst>
              <a:path h="883310" w="1766620">
                <a:moveTo>
                  <a:pt x="0" y="0"/>
                </a:moveTo>
                <a:lnTo>
                  <a:pt x="1766620" y="0"/>
                </a:lnTo>
                <a:lnTo>
                  <a:pt x="1766620" y="883310"/>
                </a:lnTo>
                <a:lnTo>
                  <a:pt x="0" y="8833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0" id="10"/>
          <p:cNvGrpSpPr/>
          <p:nvPr/>
        </p:nvGrpSpPr>
        <p:grpSpPr>
          <a:xfrm rot="0">
            <a:off x="1897526" y="3115945"/>
            <a:ext cx="7224570" cy="458797"/>
            <a:chOff x="0" y="0"/>
            <a:chExt cx="9632761" cy="61173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05266" cy="611730"/>
              <a:chOff x="0" y="0"/>
              <a:chExt cx="804211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0421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04211">
                    <a:moveTo>
                      <a:pt x="402106" y="0"/>
                    </a:moveTo>
                    <a:cubicBezTo>
                      <a:pt x="180029" y="0"/>
                      <a:pt x="0" y="181951"/>
                      <a:pt x="0" y="406400"/>
                    </a:cubicBezTo>
                    <a:cubicBezTo>
                      <a:pt x="0" y="630849"/>
                      <a:pt x="180029" y="812800"/>
                      <a:pt x="402106" y="812800"/>
                    </a:cubicBezTo>
                    <a:cubicBezTo>
                      <a:pt x="624182" y="812800"/>
                      <a:pt x="804211" y="630849"/>
                      <a:pt x="804211" y="406400"/>
                    </a:cubicBezTo>
                    <a:cubicBezTo>
                      <a:pt x="804211" y="181951"/>
                      <a:pt x="624182" y="0"/>
                      <a:pt x="402106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5395" y="-9525"/>
                <a:ext cx="653422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945792" y="38106"/>
              <a:ext cx="8686969" cy="468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Sprint 1 -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Authentication + Catalogue + User Profile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897526" y="3814081"/>
            <a:ext cx="7226779" cy="458797"/>
            <a:chOff x="0" y="0"/>
            <a:chExt cx="9635705" cy="61173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605266" cy="611730"/>
              <a:chOff x="0" y="0"/>
              <a:chExt cx="804211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0421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04211">
                    <a:moveTo>
                      <a:pt x="402106" y="0"/>
                    </a:moveTo>
                    <a:cubicBezTo>
                      <a:pt x="180029" y="0"/>
                      <a:pt x="0" y="181951"/>
                      <a:pt x="0" y="406400"/>
                    </a:cubicBezTo>
                    <a:cubicBezTo>
                      <a:pt x="0" y="630849"/>
                      <a:pt x="180029" y="812800"/>
                      <a:pt x="402106" y="812800"/>
                    </a:cubicBezTo>
                    <a:cubicBezTo>
                      <a:pt x="624182" y="812800"/>
                      <a:pt x="804211" y="630849"/>
                      <a:pt x="804211" y="406400"/>
                    </a:cubicBezTo>
                    <a:cubicBezTo>
                      <a:pt x="804211" y="181951"/>
                      <a:pt x="624182" y="0"/>
                      <a:pt x="402106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5395" y="-9525"/>
                <a:ext cx="653422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942847" y="38106"/>
              <a:ext cx="8692858" cy="468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Sprint 2 - 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Reader + Admin Profile + Filter/Search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897526" y="4512217"/>
            <a:ext cx="7234658" cy="654050"/>
            <a:chOff x="0" y="0"/>
            <a:chExt cx="9646211" cy="872067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130169"/>
              <a:ext cx="605266" cy="611730"/>
              <a:chOff x="0" y="0"/>
              <a:chExt cx="804211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0421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04211">
                    <a:moveTo>
                      <a:pt x="402106" y="0"/>
                    </a:moveTo>
                    <a:cubicBezTo>
                      <a:pt x="180029" y="0"/>
                      <a:pt x="0" y="181951"/>
                      <a:pt x="0" y="406400"/>
                    </a:cubicBezTo>
                    <a:cubicBezTo>
                      <a:pt x="0" y="630849"/>
                      <a:pt x="180029" y="812800"/>
                      <a:pt x="402106" y="812800"/>
                    </a:cubicBezTo>
                    <a:cubicBezTo>
                      <a:pt x="624182" y="812800"/>
                      <a:pt x="804211" y="630849"/>
                      <a:pt x="804211" y="406400"/>
                    </a:cubicBezTo>
                    <a:cubicBezTo>
                      <a:pt x="804211" y="181951"/>
                      <a:pt x="624182" y="0"/>
                      <a:pt x="402106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5395" y="-9525"/>
                <a:ext cx="653422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932341" y="-66675"/>
              <a:ext cx="8713870" cy="938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Sprint 3 -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Comment + Moderation + Rating + Reading Modes + upvote + reply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897526" y="5405606"/>
            <a:ext cx="7150092" cy="654050"/>
            <a:chOff x="0" y="0"/>
            <a:chExt cx="9533456" cy="872067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130169"/>
              <a:ext cx="605266" cy="611730"/>
              <a:chOff x="0" y="0"/>
              <a:chExt cx="804211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0421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04211">
                    <a:moveTo>
                      <a:pt x="402106" y="0"/>
                    </a:moveTo>
                    <a:cubicBezTo>
                      <a:pt x="180029" y="0"/>
                      <a:pt x="0" y="181951"/>
                      <a:pt x="0" y="406400"/>
                    </a:cubicBezTo>
                    <a:cubicBezTo>
                      <a:pt x="0" y="630849"/>
                      <a:pt x="180029" y="812800"/>
                      <a:pt x="402106" y="812800"/>
                    </a:cubicBezTo>
                    <a:cubicBezTo>
                      <a:pt x="624182" y="812800"/>
                      <a:pt x="804211" y="630849"/>
                      <a:pt x="804211" y="406400"/>
                    </a:cubicBezTo>
                    <a:cubicBezTo>
                      <a:pt x="804211" y="181951"/>
                      <a:pt x="624182" y="0"/>
                      <a:pt x="402106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75395" y="-9525"/>
                <a:ext cx="653422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1045096" y="-66675"/>
              <a:ext cx="8488360" cy="938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Sprint 4 -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Book Uploads + User profile Stats + Admin Stats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897526" y="6298995"/>
            <a:ext cx="7235343" cy="654050"/>
            <a:chOff x="0" y="0"/>
            <a:chExt cx="9647124" cy="872067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130169"/>
              <a:ext cx="605266" cy="611730"/>
              <a:chOff x="0" y="0"/>
              <a:chExt cx="804211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0421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04211">
                    <a:moveTo>
                      <a:pt x="402106" y="0"/>
                    </a:moveTo>
                    <a:cubicBezTo>
                      <a:pt x="180029" y="0"/>
                      <a:pt x="0" y="181951"/>
                      <a:pt x="0" y="406400"/>
                    </a:cubicBezTo>
                    <a:cubicBezTo>
                      <a:pt x="0" y="630849"/>
                      <a:pt x="180029" y="812800"/>
                      <a:pt x="402106" y="812800"/>
                    </a:cubicBezTo>
                    <a:cubicBezTo>
                      <a:pt x="624182" y="812800"/>
                      <a:pt x="804211" y="630849"/>
                      <a:pt x="804211" y="406400"/>
                    </a:cubicBezTo>
                    <a:cubicBezTo>
                      <a:pt x="804211" y="181951"/>
                      <a:pt x="624182" y="0"/>
                      <a:pt x="402106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5395" y="-9525"/>
                <a:ext cx="653422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931429" y="-66675"/>
              <a:ext cx="8715695" cy="938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Sprint 5 -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Multi-Device sync + Audiobooks + Trending + Highest Rated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897526" y="7192384"/>
            <a:ext cx="6798273" cy="654050"/>
            <a:chOff x="0" y="0"/>
            <a:chExt cx="9064364" cy="872067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130169"/>
              <a:ext cx="605266" cy="611730"/>
              <a:chOff x="0" y="0"/>
              <a:chExt cx="804211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0421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04211">
                    <a:moveTo>
                      <a:pt x="402106" y="0"/>
                    </a:moveTo>
                    <a:cubicBezTo>
                      <a:pt x="180029" y="0"/>
                      <a:pt x="0" y="181951"/>
                      <a:pt x="0" y="406400"/>
                    </a:cubicBezTo>
                    <a:cubicBezTo>
                      <a:pt x="0" y="630849"/>
                      <a:pt x="180029" y="812800"/>
                      <a:pt x="402106" y="812800"/>
                    </a:cubicBezTo>
                    <a:cubicBezTo>
                      <a:pt x="624182" y="812800"/>
                      <a:pt x="804211" y="630849"/>
                      <a:pt x="804211" y="406400"/>
                    </a:cubicBezTo>
                    <a:cubicBezTo>
                      <a:pt x="804211" y="181951"/>
                      <a:pt x="624182" y="0"/>
                      <a:pt x="402106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75395" y="-9525"/>
                <a:ext cx="653422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1045096" y="-66675"/>
              <a:ext cx="8019268" cy="938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Sprint 6 -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Add, Delete &amp; Update Books + New Releases + Explore + Gamification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897526" y="8085773"/>
            <a:ext cx="6798273" cy="1006475"/>
            <a:chOff x="0" y="0"/>
            <a:chExt cx="9064364" cy="1341967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365119"/>
              <a:ext cx="605266" cy="611730"/>
              <a:chOff x="0" y="0"/>
              <a:chExt cx="804211" cy="8128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0421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04211">
                    <a:moveTo>
                      <a:pt x="402106" y="0"/>
                    </a:moveTo>
                    <a:cubicBezTo>
                      <a:pt x="180029" y="0"/>
                      <a:pt x="0" y="181951"/>
                      <a:pt x="0" y="406400"/>
                    </a:cubicBezTo>
                    <a:cubicBezTo>
                      <a:pt x="0" y="630849"/>
                      <a:pt x="180029" y="812800"/>
                      <a:pt x="402106" y="812800"/>
                    </a:cubicBezTo>
                    <a:cubicBezTo>
                      <a:pt x="624182" y="812800"/>
                      <a:pt x="804211" y="630849"/>
                      <a:pt x="804211" y="406400"/>
                    </a:cubicBezTo>
                    <a:cubicBezTo>
                      <a:pt x="804211" y="181951"/>
                      <a:pt x="624182" y="0"/>
                      <a:pt x="402106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75395" y="-9525"/>
                <a:ext cx="653422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1045096" y="-66675"/>
              <a:ext cx="8019268" cy="1408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Sprint 7 -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Payment &amp; Subscription + Bulk Uploads + AI - [chatbot + image generation &amp; recommendation]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2540428" y="962025"/>
            <a:ext cx="468432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i="true" spc="240" u="sng">
                <a:solidFill>
                  <a:srgbClr val="2B2B2B"/>
                </a:solidFill>
                <a:latin typeface="Poppins Italics"/>
                <a:ea typeface="Poppins Italics"/>
                <a:cs typeface="Poppins Italics"/>
                <a:sym typeface="Poppins Italics"/>
                <a:hlinkClick r:id="rId7" tooltip="https://www.next-chapter.dev/subscription"/>
              </a:rPr>
              <a:t>www.next-chapter.dev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76826" y="1445703"/>
            <a:ext cx="6021078" cy="2945746"/>
            <a:chOff x="0" y="0"/>
            <a:chExt cx="929947" cy="454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9947" cy="454966"/>
            </a:xfrm>
            <a:custGeom>
              <a:avLst/>
              <a:gdLst/>
              <a:ahLst/>
              <a:cxnLst/>
              <a:rect r="r" b="b" t="t" l="l"/>
              <a:pathLst>
                <a:path h="454966" w="929947">
                  <a:moveTo>
                    <a:pt x="64290" y="0"/>
                  </a:moveTo>
                  <a:lnTo>
                    <a:pt x="865657" y="0"/>
                  </a:lnTo>
                  <a:cubicBezTo>
                    <a:pt x="901163" y="0"/>
                    <a:pt x="929947" y="28784"/>
                    <a:pt x="929947" y="64290"/>
                  </a:cubicBezTo>
                  <a:lnTo>
                    <a:pt x="929947" y="390676"/>
                  </a:lnTo>
                  <a:cubicBezTo>
                    <a:pt x="929947" y="407727"/>
                    <a:pt x="923173" y="424079"/>
                    <a:pt x="911117" y="436136"/>
                  </a:cubicBezTo>
                  <a:cubicBezTo>
                    <a:pt x="899060" y="448193"/>
                    <a:pt x="882707" y="454966"/>
                    <a:pt x="865657" y="454966"/>
                  </a:cubicBezTo>
                  <a:lnTo>
                    <a:pt x="64290" y="454966"/>
                  </a:lnTo>
                  <a:cubicBezTo>
                    <a:pt x="28784" y="454966"/>
                    <a:pt x="0" y="426183"/>
                    <a:pt x="0" y="390676"/>
                  </a:cubicBezTo>
                  <a:lnTo>
                    <a:pt x="0" y="64290"/>
                  </a:lnTo>
                  <a:cubicBezTo>
                    <a:pt x="0" y="28784"/>
                    <a:pt x="28784" y="0"/>
                    <a:pt x="642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" r="0" b="-807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17682" y="2393917"/>
            <a:ext cx="6893492" cy="3748378"/>
            <a:chOff x="0" y="0"/>
            <a:chExt cx="1064690" cy="5789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64690" cy="578931"/>
            </a:xfrm>
            <a:custGeom>
              <a:avLst/>
              <a:gdLst/>
              <a:ahLst/>
              <a:cxnLst/>
              <a:rect r="r" b="b" t="t" l="l"/>
              <a:pathLst>
                <a:path h="578931" w="1064690">
                  <a:moveTo>
                    <a:pt x="56154" y="0"/>
                  </a:moveTo>
                  <a:lnTo>
                    <a:pt x="1008536" y="0"/>
                  </a:lnTo>
                  <a:cubicBezTo>
                    <a:pt x="1023429" y="0"/>
                    <a:pt x="1037712" y="5916"/>
                    <a:pt x="1048243" y="16447"/>
                  </a:cubicBezTo>
                  <a:cubicBezTo>
                    <a:pt x="1058774" y="26978"/>
                    <a:pt x="1064690" y="41261"/>
                    <a:pt x="1064690" y="56154"/>
                  </a:cubicBezTo>
                  <a:lnTo>
                    <a:pt x="1064690" y="522778"/>
                  </a:lnTo>
                  <a:cubicBezTo>
                    <a:pt x="1064690" y="553791"/>
                    <a:pt x="1039549" y="578931"/>
                    <a:pt x="1008536" y="578931"/>
                  </a:cubicBezTo>
                  <a:lnTo>
                    <a:pt x="56154" y="578931"/>
                  </a:lnTo>
                  <a:cubicBezTo>
                    <a:pt x="25141" y="578931"/>
                    <a:pt x="0" y="553791"/>
                    <a:pt x="0" y="522778"/>
                  </a:cubicBezTo>
                  <a:lnTo>
                    <a:pt x="0" y="56154"/>
                  </a:lnTo>
                  <a:cubicBezTo>
                    <a:pt x="0" y="25141"/>
                    <a:pt x="25141" y="0"/>
                    <a:pt x="56154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-10127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544623" y="6779338"/>
            <a:ext cx="5652027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Lessons</a:t>
            </a:r>
          </a:p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         Learned</a:t>
            </a:r>
          </a:p>
        </p:txBody>
      </p:sp>
      <p:sp>
        <p:nvSpPr>
          <p:cNvPr name="AutoShape 7" id="7"/>
          <p:cNvSpPr/>
          <p:nvPr/>
        </p:nvSpPr>
        <p:spPr>
          <a:xfrm>
            <a:off x="1028700" y="9258300"/>
            <a:ext cx="16230600" cy="0"/>
          </a:xfrm>
          <a:prstGeom prst="line">
            <a:avLst/>
          </a:prstGeom>
          <a:ln cap="rnd" w="38100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0544623" y="1226850"/>
            <a:ext cx="1995805" cy="0"/>
          </a:xfrm>
          <a:prstGeom prst="line">
            <a:avLst/>
          </a:prstGeom>
          <a:ln cap="flat" w="38100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-5400000">
            <a:off x="16506912" y="4249165"/>
            <a:ext cx="1369233" cy="903359"/>
          </a:xfrm>
          <a:custGeom>
            <a:avLst/>
            <a:gdLst/>
            <a:ahLst/>
            <a:cxnLst/>
            <a:rect r="r" b="b" t="t" l="l"/>
            <a:pathLst>
              <a:path h="903359" w="1369233">
                <a:moveTo>
                  <a:pt x="0" y="0"/>
                </a:moveTo>
                <a:lnTo>
                  <a:pt x="1369233" y="0"/>
                </a:lnTo>
                <a:lnTo>
                  <a:pt x="1369233" y="903358"/>
                </a:lnTo>
                <a:lnTo>
                  <a:pt x="0" y="9033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1368229"/>
            <a:ext cx="956081" cy="630779"/>
          </a:xfrm>
          <a:custGeom>
            <a:avLst/>
            <a:gdLst/>
            <a:ahLst/>
            <a:cxnLst/>
            <a:rect r="r" b="b" t="t" l="l"/>
            <a:pathLst>
              <a:path h="630779" w="956081">
                <a:moveTo>
                  <a:pt x="0" y="0"/>
                </a:moveTo>
                <a:lnTo>
                  <a:pt x="956081" y="0"/>
                </a:lnTo>
                <a:lnTo>
                  <a:pt x="956081" y="630779"/>
                </a:lnTo>
                <a:lnTo>
                  <a:pt x="0" y="630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144554" y="6815350"/>
            <a:ext cx="1766620" cy="883310"/>
          </a:xfrm>
          <a:custGeom>
            <a:avLst/>
            <a:gdLst/>
            <a:ahLst/>
            <a:cxnLst/>
            <a:rect r="r" b="b" t="t" l="l"/>
            <a:pathLst>
              <a:path h="883310" w="1766620">
                <a:moveTo>
                  <a:pt x="0" y="0"/>
                </a:moveTo>
                <a:lnTo>
                  <a:pt x="1766620" y="0"/>
                </a:lnTo>
                <a:lnTo>
                  <a:pt x="1766620" y="883310"/>
                </a:lnTo>
                <a:lnTo>
                  <a:pt x="0" y="8833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2" id="12"/>
          <p:cNvGrpSpPr/>
          <p:nvPr/>
        </p:nvGrpSpPr>
        <p:grpSpPr>
          <a:xfrm rot="0">
            <a:off x="2376826" y="4915607"/>
            <a:ext cx="6021078" cy="3799485"/>
            <a:chOff x="0" y="0"/>
            <a:chExt cx="8028105" cy="506598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130169"/>
              <a:ext cx="613954" cy="611730"/>
              <a:chOff x="0" y="0"/>
              <a:chExt cx="815756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5756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5756">
                    <a:moveTo>
                      <a:pt x="407878" y="0"/>
                    </a:moveTo>
                    <a:cubicBezTo>
                      <a:pt x="182613" y="0"/>
                      <a:pt x="0" y="181951"/>
                      <a:pt x="0" y="406400"/>
                    </a:cubicBezTo>
                    <a:cubicBezTo>
                      <a:pt x="0" y="630849"/>
                      <a:pt x="182613" y="812800"/>
                      <a:pt x="407878" y="812800"/>
                    </a:cubicBezTo>
                    <a:cubicBezTo>
                      <a:pt x="633143" y="812800"/>
                      <a:pt x="815756" y="630849"/>
                      <a:pt x="815756" y="406400"/>
                    </a:cubicBezTo>
                    <a:cubicBezTo>
                      <a:pt x="815756" y="181951"/>
                      <a:pt x="633143" y="0"/>
                      <a:pt x="407878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477" y="-9525"/>
                <a:ext cx="662802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1234195" y="-66675"/>
              <a:ext cx="6793909" cy="938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Team Communication + Project Alignment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1528140"/>
              <a:ext cx="602063" cy="611730"/>
              <a:chOff x="0" y="0"/>
              <a:chExt cx="799955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79995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99955">
                    <a:moveTo>
                      <a:pt x="399978" y="0"/>
                    </a:moveTo>
                    <a:cubicBezTo>
                      <a:pt x="179076" y="0"/>
                      <a:pt x="0" y="181951"/>
                      <a:pt x="0" y="406400"/>
                    </a:cubicBezTo>
                    <a:cubicBezTo>
                      <a:pt x="0" y="630849"/>
                      <a:pt x="179076" y="812800"/>
                      <a:pt x="399978" y="812800"/>
                    </a:cubicBezTo>
                    <a:cubicBezTo>
                      <a:pt x="620879" y="812800"/>
                      <a:pt x="799955" y="630849"/>
                      <a:pt x="799955" y="406400"/>
                    </a:cubicBezTo>
                    <a:cubicBezTo>
                      <a:pt x="799955" y="181951"/>
                      <a:pt x="620879" y="0"/>
                      <a:pt x="399978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4996" y="-9525"/>
                <a:ext cx="649964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134210" y="1331296"/>
              <a:ext cx="6893895" cy="938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Messy Git workflows + Severe push/pull conflicts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156131" y="2729267"/>
              <a:ext cx="6871974" cy="938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Testing took longer than expected, with unexpected outputs</a:t>
              </a:r>
            </a:p>
          </p:txBody>
        </p:sp>
        <p:grpSp>
          <p:nvGrpSpPr>
            <p:cNvPr name="Group 22" id="22"/>
            <p:cNvGrpSpPr/>
            <p:nvPr/>
          </p:nvGrpSpPr>
          <p:grpSpPr>
            <a:xfrm rot="0">
              <a:off x="0" y="2926111"/>
              <a:ext cx="613954" cy="611730"/>
              <a:chOff x="0" y="0"/>
              <a:chExt cx="815756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5756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5756">
                    <a:moveTo>
                      <a:pt x="407878" y="0"/>
                    </a:moveTo>
                    <a:cubicBezTo>
                      <a:pt x="182613" y="0"/>
                      <a:pt x="0" y="181951"/>
                      <a:pt x="0" y="406400"/>
                    </a:cubicBezTo>
                    <a:cubicBezTo>
                      <a:pt x="0" y="630849"/>
                      <a:pt x="182613" y="812800"/>
                      <a:pt x="407878" y="812800"/>
                    </a:cubicBezTo>
                    <a:cubicBezTo>
                      <a:pt x="633143" y="812800"/>
                      <a:pt x="815756" y="630849"/>
                      <a:pt x="815756" y="406400"/>
                    </a:cubicBezTo>
                    <a:cubicBezTo>
                      <a:pt x="815756" y="181951"/>
                      <a:pt x="633143" y="0"/>
                      <a:pt x="407878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477" y="-9525"/>
                <a:ext cx="662802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1156131" y="4127238"/>
              <a:ext cx="6871974" cy="938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Wrong estimations that lead to more time in implementing desired features.</a:t>
              </a:r>
            </a:p>
          </p:txBody>
        </p:sp>
        <p:grpSp>
          <p:nvGrpSpPr>
            <p:cNvPr name="Group 26" id="26"/>
            <p:cNvGrpSpPr/>
            <p:nvPr/>
          </p:nvGrpSpPr>
          <p:grpSpPr>
            <a:xfrm rot="0">
              <a:off x="0" y="4324082"/>
              <a:ext cx="613954" cy="611730"/>
              <a:chOff x="0" y="0"/>
              <a:chExt cx="815756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5756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5756">
                    <a:moveTo>
                      <a:pt x="407878" y="0"/>
                    </a:moveTo>
                    <a:cubicBezTo>
                      <a:pt x="182613" y="0"/>
                      <a:pt x="0" y="181951"/>
                      <a:pt x="0" y="406400"/>
                    </a:cubicBezTo>
                    <a:cubicBezTo>
                      <a:pt x="0" y="630849"/>
                      <a:pt x="182613" y="812800"/>
                      <a:pt x="407878" y="812800"/>
                    </a:cubicBezTo>
                    <a:cubicBezTo>
                      <a:pt x="633143" y="812800"/>
                      <a:pt x="815756" y="630849"/>
                      <a:pt x="815756" y="406400"/>
                    </a:cubicBezTo>
                    <a:cubicBezTo>
                      <a:pt x="815756" y="181951"/>
                      <a:pt x="633143" y="0"/>
                      <a:pt x="407878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76477" y="-9525"/>
                <a:ext cx="662802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</p:grpSp>
      <p:sp>
        <p:nvSpPr>
          <p:cNvPr name="TextBox 29" id="29"/>
          <p:cNvSpPr txBox="true"/>
          <p:nvPr/>
        </p:nvSpPr>
        <p:spPr>
          <a:xfrm rot="0">
            <a:off x="12540428" y="962025"/>
            <a:ext cx="468432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i="true" spc="240" u="sng">
                <a:solidFill>
                  <a:srgbClr val="2B2B2B"/>
                </a:solidFill>
                <a:latin typeface="Poppins Italics"/>
                <a:ea typeface="Poppins Italics"/>
                <a:cs typeface="Poppins Italics"/>
                <a:sym typeface="Poppins Italics"/>
                <a:hlinkClick r:id="rId8" tooltip="https://www.next-chapter.dev/subscription"/>
              </a:rPr>
              <a:t>www.next-chapter.dev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18480" y="1217287"/>
            <a:ext cx="8184162" cy="3797937"/>
            <a:chOff x="0" y="0"/>
            <a:chExt cx="1267941" cy="58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7941" cy="588400"/>
            </a:xfrm>
            <a:custGeom>
              <a:avLst/>
              <a:gdLst/>
              <a:ahLst/>
              <a:cxnLst/>
              <a:rect r="r" b="b" t="t" l="l"/>
              <a:pathLst>
                <a:path h="588400" w="1267941">
                  <a:moveTo>
                    <a:pt x="28379" y="0"/>
                  </a:moveTo>
                  <a:lnTo>
                    <a:pt x="1239562" y="0"/>
                  </a:lnTo>
                  <a:cubicBezTo>
                    <a:pt x="1247089" y="0"/>
                    <a:pt x="1254307" y="2990"/>
                    <a:pt x="1259629" y="8312"/>
                  </a:cubicBezTo>
                  <a:cubicBezTo>
                    <a:pt x="1264951" y="13634"/>
                    <a:pt x="1267941" y="20852"/>
                    <a:pt x="1267941" y="28379"/>
                  </a:cubicBezTo>
                  <a:lnTo>
                    <a:pt x="1267941" y="560021"/>
                  </a:lnTo>
                  <a:cubicBezTo>
                    <a:pt x="1267941" y="575694"/>
                    <a:pt x="1255235" y="588400"/>
                    <a:pt x="1239562" y="588400"/>
                  </a:cubicBezTo>
                  <a:lnTo>
                    <a:pt x="28379" y="588400"/>
                  </a:lnTo>
                  <a:cubicBezTo>
                    <a:pt x="12706" y="588400"/>
                    <a:pt x="0" y="575694"/>
                    <a:pt x="0" y="560021"/>
                  </a:cubicBezTo>
                  <a:lnTo>
                    <a:pt x="0" y="28379"/>
                  </a:lnTo>
                  <a:cubicBezTo>
                    <a:pt x="0" y="12706"/>
                    <a:pt x="12706" y="0"/>
                    <a:pt x="2837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126" r="0" b="-5200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771800" y="5288260"/>
            <a:ext cx="7430842" cy="3096883"/>
            <a:chOff x="0" y="0"/>
            <a:chExt cx="1151232" cy="4797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51232" cy="479788"/>
            </a:xfrm>
            <a:custGeom>
              <a:avLst/>
              <a:gdLst/>
              <a:ahLst/>
              <a:cxnLst/>
              <a:rect r="r" b="b" t="t" l="l"/>
              <a:pathLst>
                <a:path h="479788" w="1151232">
                  <a:moveTo>
                    <a:pt x="31256" y="0"/>
                  </a:moveTo>
                  <a:lnTo>
                    <a:pt x="1119976" y="0"/>
                  </a:lnTo>
                  <a:cubicBezTo>
                    <a:pt x="1137238" y="0"/>
                    <a:pt x="1151232" y="13994"/>
                    <a:pt x="1151232" y="31256"/>
                  </a:cubicBezTo>
                  <a:lnTo>
                    <a:pt x="1151232" y="448532"/>
                  </a:lnTo>
                  <a:cubicBezTo>
                    <a:pt x="1151232" y="465794"/>
                    <a:pt x="1137238" y="479788"/>
                    <a:pt x="1119976" y="479788"/>
                  </a:cubicBezTo>
                  <a:lnTo>
                    <a:pt x="31256" y="479788"/>
                  </a:lnTo>
                  <a:cubicBezTo>
                    <a:pt x="13994" y="479788"/>
                    <a:pt x="0" y="465794"/>
                    <a:pt x="0" y="448532"/>
                  </a:cubicBezTo>
                  <a:lnTo>
                    <a:pt x="0" y="31256"/>
                  </a:lnTo>
                  <a:cubicBezTo>
                    <a:pt x="0" y="13994"/>
                    <a:pt x="13994" y="0"/>
                    <a:pt x="31256" y="0"/>
                  </a:cubicBezTo>
                  <a:close/>
                </a:path>
              </a:pathLst>
            </a:custGeom>
            <a:blipFill>
              <a:blip r:embed="rId2"/>
              <a:stretch>
                <a:fillRect l="-4200" t="-81819" r="-2430" b="0"/>
              </a:stretch>
            </a:blipFill>
          </p:spPr>
        </p:sp>
      </p:grpSp>
      <p:sp>
        <p:nvSpPr>
          <p:cNvPr name="AutoShape 6" id="6"/>
          <p:cNvSpPr/>
          <p:nvPr/>
        </p:nvSpPr>
        <p:spPr>
          <a:xfrm>
            <a:off x="1028700" y="9258300"/>
            <a:ext cx="16230600" cy="0"/>
          </a:xfrm>
          <a:prstGeom prst="line">
            <a:avLst/>
          </a:prstGeom>
          <a:ln cap="rnd" w="38100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-5400000">
            <a:off x="16276005" y="4564012"/>
            <a:ext cx="1369233" cy="903359"/>
          </a:xfrm>
          <a:custGeom>
            <a:avLst/>
            <a:gdLst/>
            <a:ahLst/>
            <a:cxnLst/>
            <a:rect r="r" b="b" t="t" l="l"/>
            <a:pathLst>
              <a:path h="903359" w="1369233">
                <a:moveTo>
                  <a:pt x="0" y="0"/>
                </a:moveTo>
                <a:lnTo>
                  <a:pt x="1369233" y="0"/>
                </a:lnTo>
                <a:lnTo>
                  <a:pt x="1369233" y="903359"/>
                </a:lnTo>
                <a:lnTo>
                  <a:pt x="0" y="9033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371456" y="8069753"/>
            <a:ext cx="956081" cy="630779"/>
          </a:xfrm>
          <a:custGeom>
            <a:avLst/>
            <a:gdLst/>
            <a:ahLst/>
            <a:cxnLst/>
            <a:rect r="r" b="b" t="t" l="l"/>
            <a:pathLst>
              <a:path h="630779" w="956081">
                <a:moveTo>
                  <a:pt x="0" y="0"/>
                </a:moveTo>
                <a:lnTo>
                  <a:pt x="956081" y="0"/>
                </a:lnTo>
                <a:lnTo>
                  <a:pt x="956081" y="630779"/>
                </a:lnTo>
                <a:lnTo>
                  <a:pt x="0" y="6307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28658" r="-175655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25959" y="1217287"/>
            <a:ext cx="5146916" cy="4746434"/>
            <a:chOff x="0" y="0"/>
            <a:chExt cx="6862554" cy="632857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53035" cy="611730"/>
              <a:chOff x="0" y="0"/>
              <a:chExt cx="867682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676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67682">
                    <a:moveTo>
                      <a:pt x="433841" y="0"/>
                    </a:moveTo>
                    <a:cubicBezTo>
                      <a:pt x="194237" y="0"/>
                      <a:pt x="0" y="181951"/>
                      <a:pt x="0" y="406400"/>
                    </a:cubicBezTo>
                    <a:cubicBezTo>
                      <a:pt x="0" y="630849"/>
                      <a:pt x="194237" y="812800"/>
                      <a:pt x="433841" y="812800"/>
                    </a:cubicBezTo>
                    <a:cubicBezTo>
                      <a:pt x="673445" y="812800"/>
                      <a:pt x="867682" y="630849"/>
                      <a:pt x="867682" y="406400"/>
                    </a:cubicBezTo>
                    <a:cubicBezTo>
                      <a:pt x="867682" y="181951"/>
                      <a:pt x="673445" y="0"/>
                      <a:pt x="433841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81345" y="-9525"/>
                <a:ext cx="704992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055010" y="38106"/>
              <a:ext cx="5807544" cy="468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90% functional sprints completed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0" y="1397971"/>
              <a:ext cx="600131" cy="611730"/>
              <a:chOff x="0" y="0"/>
              <a:chExt cx="797389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79738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97389">
                    <a:moveTo>
                      <a:pt x="398694" y="0"/>
                    </a:moveTo>
                    <a:cubicBezTo>
                      <a:pt x="178502" y="0"/>
                      <a:pt x="0" y="181951"/>
                      <a:pt x="0" y="406400"/>
                    </a:cubicBezTo>
                    <a:cubicBezTo>
                      <a:pt x="0" y="630849"/>
                      <a:pt x="178502" y="812800"/>
                      <a:pt x="398694" y="812800"/>
                    </a:cubicBezTo>
                    <a:cubicBezTo>
                      <a:pt x="618887" y="812800"/>
                      <a:pt x="797389" y="630849"/>
                      <a:pt x="797389" y="406400"/>
                    </a:cubicBezTo>
                    <a:cubicBezTo>
                      <a:pt x="797389" y="181951"/>
                      <a:pt x="618887" y="0"/>
                      <a:pt x="398694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4755" y="-9525"/>
                <a:ext cx="647879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969541" y="1201128"/>
              <a:ext cx="5893013" cy="938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Normalized DB with RLS and secure access control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988279" y="2599099"/>
              <a:ext cx="5874275" cy="938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Real deployment with Razorpay + Supabase + CI</a:t>
              </a:r>
            </a:p>
          </p:txBody>
        </p:sp>
        <p:grpSp>
          <p:nvGrpSpPr>
            <p:cNvPr name="Group 19" id="19"/>
            <p:cNvGrpSpPr/>
            <p:nvPr/>
          </p:nvGrpSpPr>
          <p:grpSpPr>
            <a:xfrm rot="0">
              <a:off x="0" y="2795942"/>
              <a:ext cx="611730" cy="611730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988279" y="3997070"/>
              <a:ext cx="5874275" cy="938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Implemented cross-device sync for reading engine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969541" y="5389836"/>
              <a:ext cx="5874275" cy="938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Full implementation of all major workflows</a:t>
              </a:r>
            </a:p>
          </p:txBody>
        </p:sp>
        <p:grpSp>
          <p:nvGrpSpPr>
            <p:cNvPr name="Group 24" id="24"/>
            <p:cNvGrpSpPr/>
            <p:nvPr/>
          </p:nvGrpSpPr>
          <p:grpSpPr>
            <a:xfrm rot="0">
              <a:off x="0" y="4193913"/>
              <a:ext cx="611730" cy="611730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41306" y="5586680"/>
              <a:ext cx="611730" cy="611730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</p:grpSp>
      <p:sp>
        <p:nvSpPr>
          <p:cNvPr name="TextBox 30" id="30"/>
          <p:cNvSpPr txBox="true"/>
          <p:nvPr/>
        </p:nvSpPr>
        <p:spPr>
          <a:xfrm rot="0">
            <a:off x="1028700" y="7756175"/>
            <a:ext cx="6117765" cy="114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Acheivements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00935" y="1205154"/>
            <a:ext cx="4210206" cy="7369603"/>
            <a:chOff x="0" y="0"/>
            <a:chExt cx="639687" cy="11197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9687" cy="1119717"/>
            </a:xfrm>
            <a:custGeom>
              <a:avLst/>
              <a:gdLst/>
              <a:ahLst/>
              <a:cxnLst/>
              <a:rect r="r" b="b" t="t" l="l"/>
              <a:pathLst>
                <a:path h="1119717" w="639687">
                  <a:moveTo>
                    <a:pt x="95620" y="0"/>
                  </a:moveTo>
                  <a:lnTo>
                    <a:pt x="544067" y="0"/>
                  </a:lnTo>
                  <a:cubicBezTo>
                    <a:pt x="569427" y="0"/>
                    <a:pt x="593749" y="10074"/>
                    <a:pt x="611681" y="28006"/>
                  </a:cubicBezTo>
                  <a:cubicBezTo>
                    <a:pt x="629613" y="45939"/>
                    <a:pt x="639687" y="70260"/>
                    <a:pt x="639687" y="95620"/>
                  </a:cubicBezTo>
                  <a:lnTo>
                    <a:pt x="639687" y="1024097"/>
                  </a:lnTo>
                  <a:cubicBezTo>
                    <a:pt x="639687" y="1076907"/>
                    <a:pt x="596877" y="1119717"/>
                    <a:pt x="544067" y="1119717"/>
                  </a:cubicBezTo>
                  <a:lnTo>
                    <a:pt x="95620" y="1119717"/>
                  </a:lnTo>
                  <a:cubicBezTo>
                    <a:pt x="42811" y="1119717"/>
                    <a:pt x="0" y="1076907"/>
                    <a:pt x="0" y="1024097"/>
                  </a:cubicBezTo>
                  <a:lnTo>
                    <a:pt x="0" y="95620"/>
                  </a:lnTo>
                  <a:cubicBezTo>
                    <a:pt x="0" y="42811"/>
                    <a:pt x="42811" y="0"/>
                    <a:pt x="95620" y="0"/>
                  </a:cubicBezTo>
                  <a:close/>
                </a:path>
              </a:pathLst>
            </a:custGeom>
            <a:blipFill>
              <a:blip r:embed="rId2"/>
              <a:stretch>
                <a:fillRect l="-15887" t="-7055" r="-260780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>
            <a:off x="1028700" y="9258300"/>
            <a:ext cx="16230600" cy="0"/>
          </a:xfrm>
          <a:prstGeom prst="line">
            <a:avLst/>
          </a:prstGeom>
          <a:ln cap="rnd" w="38100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1998071" y="1387279"/>
            <a:ext cx="542356" cy="0"/>
          </a:xfrm>
          <a:prstGeom prst="line">
            <a:avLst/>
          </a:prstGeom>
          <a:ln cap="flat" w="38100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-5400000">
            <a:off x="5368120" y="7438461"/>
            <a:ext cx="1369233" cy="903359"/>
          </a:xfrm>
          <a:custGeom>
            <a:avLst/>
            <a:gdLst/>
            <a:ahLst/>
            <a:cxnLst/>
            <a:rect r="r" b="b" t="t" l="l"/>
            <a:pathLst>
              <a:path h="903359" w="1369233">
                <a:moveTo>
                  <a:pt x="0" y="0"/>
                </a:moveTo>
                <a:lnTo>
                  <a:pt x="1369233" y="0"/>
                </a:lnTo>
                <a:lnTo>
                  <a:pt x="1369233" y="903359"/>
                </a:lnTo>
                <a:lnTo>
                  <a:pt x="0" y="9033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468055" y="2509179"/>
            <a:ext cx="956081" cy="630779"/>
          </a:xfrm>
          <a:custGeom>
            <a:avLst/>
            <a:gdLst/>
            <a:ahLst/>
            <a:cxnLst/>
            <a:rect r="r" b="b" t="t" l="l"/>
            <a:pathLst>
              <a:path h="630779" w="956081">
                <a:moveTo>
                  <a:pt x="0" y="0"/>
                </a:moveTo>
                <a:lnTo>
                  <a:pt x="956081" y="0"/>
                </a:lnTo>
                <a:lnTo>
                  <a:pt x="956081" y="630779"/>
                </a:lnTo>
                <a:lnTo>
                  <a:pt x="0" y="6307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998071" y="3372834"/>
            <a:ext cx="1325453" cy="662726"/>
          </a:xfrm>
          <a:custGeom>
            <a:avLst/>
            <a:gdLst/>
            <a:ahLst/>
            <a:cxnLst/>
            <a:rect r="r" b="b" t="t" l="l"/>
            <a:pathLst>
              <a:path h="662726" w="1325453">
                <a:moveTo>
                  <a:pt x="0" y="0"/>
                </a:moveTo>
                <a:lnTo>
                  <a:pt x="1325453" y="0"/>
                </a:lnTo>
                <a:lnTo>
                  <a:pt x="1325453" y="662727"/>
                </a:lnTo>
                <a:lnTo>
                  <a:pt x="0" y="6627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1163457" y="1521905"/>
            <a:ext cx="5146916" cy="4746434"/>
            <a:chOff x="0" y="0"/>
            <a:chExt cx="6862554" cy="632857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53035" cy="611730"/>
              <a:chOff x="0" y="0"/>
              <a:chExt cx="867682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676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67682">
                    <a:moveTo>
                      <a:pt x="433841" y="0"/>
                    </a:moveTo>
                    <a:cubicBezTo>
                      <a:pt x="194237" y="0"/>
                      <a:pt x="0" y="181951"/>
                      <a:pt x="0" y="406400"/>
                    </a:cubicBezTo>
                    <a:cubicBezTo>
                      <a:pt x="0" y="630849"/>
                      <a:pt x="194237" y="812800"/>
                      <a:pt x="433841" y="812800"/>
                    </a:cubicBezTo>
                    <a:cubicBezTo>
                      <a:pt x="673445" y="812800"/>
                      <a:pt x="867682" y="630849"/>
                      <a:pt x="867682" y="406400"/>
                    </a:cubicBezTo>
                    <a:cubicBezTo>
                      <a:pt x="867682" y="181951"/>
                      <a:pt x="673445" y="0"/>
                      <a:pt x="433841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81345" y="-9525"/>
                <a:ext cx="704992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055010" y="38106"/>
              <a:ext cx="5807544" cy="938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Sprint planning wasn’t fully value-driven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0" y="1397971"/>
              <a:ext cx="600131" cy="611730"/>
              <a:chOff x="0" y="0"/>
              <a:chExt cx="797389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79738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97389">
                    <a:moveTo>
                      <a:pt x="398694" y="0"/>
                    </a:moveTo>
                    <a:cubicBezTo>
                      <a:pt x="178502" y="0"/>
                      <a:pt x="0" y="181951"/>
                      <a:pt x="0" y="406400"/>
                    </a:cubicBezTo>
                    <a:cubicBezTo>
                      <a:pt x="0" y="630849"/>
                      <a:pt x="178502" y="812800"/>
                      <a:pt x="398694" y="812800"/>
                    </a:cubicBezTo>
                    <a:cubicBezTo>
                      <a:pt x="618887" y="812800"/>
                      <a:pt x="797389" y="630849"/>
                      <a:pt x="797389" y="406400"/>
                    </a:cubicBezTo>
                    <a:cubicBezTo>
                      <a:pt x="797389" y="181951"/>
                      <a:pt x="618887" y="0"/>
                      <a:pt x="398694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4755" y="-9525"/>
                <a:ext cx="647879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969541" y="1201128"/>
              <a:ext cx="5893013" cy="938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Git workflow inconsistencies early on.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988279" y="2599099"/>
              <a:ext cx="5874275" cy="938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Risk management was weak in early sprints.</a:t>
              </a:r>
            </a:p>
          </p:txBody>
        </p:sp>
        <p:grpSp>
          <p:nvGrpSpPr>
            <p:cNvPr name="Group 19" id="19"/>
            <p:cNvGrpSpPr/>
            <p:nvPr/>
          </p:nvGrpSpPr>
          <p:grpSpPr>
            <a:xfrm rot="0">
              <a:off x="0" y="2795942"/>
              <a:ext cx="611730" cy="611730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988279" y="3997070"/>
              <a:ext cx="5874275" cy="938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Not testing the feature just after implementation.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969541" y="5389836"/>
              <a:ext cx="5874275" cy="938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Some stories lacked clear acceptance criteria</a:t>
              </a:r>
            </a:p>
          </p:txBody>
        </p:sp>
        <p:grpSp>
          <p:nvGrpSpPr>
            <p:cNvPr name="Group 24" id="24"/>
            <p:cNvGrpSpPr/>
            <p:nvPr/>
          </p:nvGrpSpPr>
          <p:grpSpPr>
            <a:xfrm rot="0">
              <a:off x="0" y="4193913"/>
              <a:ext cx="611730" cy="611730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41306" y="5586680"/>
              <a:ext cx="611730" cy="611730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</p:grpSp>
      <p:sp>
        <p:nvSpPr>
          <p:cNvPr name="TextBox 30" id="30"/>
          <p:cNvSpPr txBox="true"/>
          <p:nvPr/>
        </p:nvSpPr>
        <p:spPr>
          <a:xfrm rot="0">
            <a:off x="11998071" y="4486013"/>
            <a:ext cx="4067067" cy="2801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Mistakes We</a:t>
            </a:r>
          </a:p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Made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540428" y="1122454"/>
            <a:ext cx="468432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i="true" spc="240" u="sng">
                <a:solidFill>
                  <a:srgbClr val="2B2B2B"/>
                </a:solidFill>
                <a:latin typeface="Poppins Italics"/>
                <a:ea typeface="Poppins Italics"/>
                <a:cs typeface="Poppins Italics"/>
                <a:sym typeface="Poppins Italics"/>
                <a:hlinkClick r:id="rId7" tooltip="https://www.next-chapter.dev/subscription"/>
              </a:rPr>
              <a:t>www.next-chapter.dev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02516" y="1028700"/>
            <a:ext cx="7041302" cy="7759885"/>
            <a:chOff x="0" y="0"/>
            <a:chExt cx="1069836" cy="11790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9836" cy="1179016"/>
            </a:xfrm>
            <a:custGeom>
              <a:avLst/>
              <a:gdLst/>
              <a:ahLst/>
              <a:cxnLst/>
              <a:rect r="r" b="b" t="t" l="l"/>
              <a:pathLst>
                <a:path h="1179016" w="1069836">
                  <a:moveTo>
                    <a:pt x="57174" y="0"/>
                  </a:moveTo>
                  <a:lnTo>
                    <a:pt x="1012662" y="0"/>
                  </a:lnTo>
                  <a:cubicBezTo>
                    <a:pt x="1027826" y="0"/>
                    <a:pt x="1042368" y="6024"/>
                    <a:pt x="1053090" y="16746"/>
                  </a:cubicBezTo>
                  <a:cubicBezTo>
                    <a:pt x="1063813" y="27468"/>
                    <a:pt x="1069836" y="42011"/>
                    <a:pt x="1069836" y="57174"/>
                  </a:cubicBezTo>
                  <a:lnTo>
                    <a:pt x="1069836" y="1121842"/>
                  </a:lnTo>
                  <a:cubicBezTo>
                    <a:pt x="1069836" y="1137005"/>
                    <a:pt x="1063813" y="1151548"/>
                    <a:pt x="1053090" y="1162270"/>
                  </a:cubicBezTo>
                  <a:cubicBezTo>
                    <a:pt x="1042368" y="1172992"/>
                    <a:pt x="1027826" y="1179016"/>
                    <a:pt x="1012662" y="1179016"/>
                  </a:cubicBezTo>
                  <a:lnTo>
                    <a:pt x="57174" y="1179016"/>
                  </a:lnTo>
                  <a:cubicBezTo>
                    <a:pt x="42011" y="1179016"/>
                    <a:pt x="27468" y="1172992"/>
                    <a:pt x="16746" y="1162270"/>
                  </a:cubicBezTo>
                  <a:cubicBezTo>
                    <a:pt x="6024" y="1151548"/>
                    <a:pt x="0" y="1137005"/>
                    <a:pt x="0" y="1121842"/>
                  </a:cubicBezTo>
                  <a:lnTo>
                    <a:pt x="0" y="57174"/>
                  </a:lnTo>
                  <a:cubicBezTo>
                    <a:pt x="0" y="42011"/>
                    <a:pt x="6024" y="27468"/>
                    <a:pt x="16746" y="16746"/>
                  </a:cubicBezTo>
                  <a:cubicBezTo>
                    <a:pt x="27468" y="6024"/>
                    <a:pt x="42011" y="0"/>
                    <a:pt x="57174" y="0"/>
                  </a:cubicBezTo>
                  <a:close/>
                </a:path>
              </a:pathLst>
            </a:custGeom>
            <a:blipFill>
              <a:blip r:embed="rId2"/>
              <a:stretch>
                <a:fillRect l="-10033" t="-8002" r="-170418" b="-6187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053707" y="7371300"/>
            <a:ext cx="6580374" cy="1944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Rating on Artefacts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748703" y="893409"/>
            <a:ext cx="3968325" cy="875264"/>
            <a:chOff x="0" y="0"/>
            <a:chExt cx="5291100" cy="1167018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167018" cy="1167018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9735" lIns="59735" bIns="59735" rIns="59735"/>
              <a:lstStyle/>
              <a:p>
                <a:pPr algn="ctr">
                  <a:lnSpc>
                    <a:spcPts val="3359"/>
                  </a:lnSpc>
                </a:pPr>
                <a:r>
                  <a:rPr lang="en-US" b="true" sz="2399">
                    <a:solidFill>
                      <a:srgbClr val="FFFFFF"/>
                    </a:solidFill>
                    <a:latin typeface="Agrandir Bold"/>
                    <a:ea typeface="Agrandir Bold"/>
                    <a:cs typeface="Agrandir Bold"/>
                    <a:sym typeface="Agrandir Bold"/>
                  </a:rPr>
                  <a:t>4.5</a:t>
                </a: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1708916" y="208859"/>
              <a:ext cx="3582184" cy="673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Requirements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748703" y="2018363"/>
            <a:ext cx="3968325" cy="875264"/>
            <a:chOff x="0" y="0"/>
            <a:chExt cx="5291100" cy="1167018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167018" cy="1167018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9735" lIns="59735" bIns="59735" rIns="59735"/>
              <a:lstStyle/>
              <a:p>
                <a:pPr algn="ctr">
                  <a:lnSpc>
                    <a:spcPts val="3359"/>
                  </a:lnSpc>
                </a:pPr>
                <a:r>
                  <a:rPr lang="en-US" b="true" sz="2399">
                    <a:solidFill>
                      <a:srgbClr val="FFFFFF"/>
                    </a:solidFill>
                    <a:latin typeface="Agrandir Bold"/>
                    <a:ea typeface="Agrandir Bold"/>
                    <a:cs typeface="Agrandir Bold"/>
                    <a:sym typeface="Agrandir Bold"/>
                  </a:rPr>
                  <a:t>4.5</a:t>
                </a: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1708916" y="208859"/>
              <a:ext cx="3582184" cy="673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Code Quality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748703" y="3141276"/>
            <a:ext cx="3968325" cy="875264"/>
            <a:chOff x="0" y="0"/>
            <a:chExt cx="5291100" cy="1167018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167018" cy="1167018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9735" lIns="59735" bIns="59735" rIns="59735"/>
              <a:lstStyle/>
              <a:p>
                <a:pPr algn="ctr">
                  <a:lnSpc>
                    <a:spcPts val="3359"/>
                  </a:lnSpc>
                </a:pPr>
                <a:r>
                  <a:rPr lang="en-US" b="true" sz="2399">
                    <a:solidFill>
                      <a:srgbClr val="FFFFFF"/>
                    </a:solidFill>
                    <a:latin typeface="Agrandir Bold"/>
                    <a:ea typeface="Agrandir Bold"/>
                    <a:cs typeface="Agrandir Bold"/>
                    <a:sym typeface="Agrandir Bold"/>
                  </a:rPr>
                  <a:t>4</a:t>
                </a: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1708916" y="208859"/>
              <a:ext cx="3582184" cy="673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Testing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750075" y="4281913"/>
            <a:ext cx="3968325" cy="875264"/>
            <a:chOff x="0" y="0"/>
            <a:chExt cx="5291100" cy="1167018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167018" cy="1167018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9735" lIns="59735" bIns="59735" rIns="59735"/>
              <a:lstStyle/>
              <a:p>
                <a:pPr algn="ctr">
                  <a:lnSpc>
                    <a:spcPts val="3359"/>
                  </a:lnSpc>
                </a:pPr>
                <a:r>
                  <a:rPr lang="en-US" b="true" sz="2399">
                    <a:solidFill>
                      <a:srgbClr val="FFFFFF"/>
                    </a:solidFill>
                    <a:latin typeface="Agrandir Bold"/>
                    <a:ea typeface="Agrandir Bold"/>
                    <a:cs typeface="Agrandir Bold"/>
                    <a:sym typeface="Agrandir Bold"/>
                  </a:rPr>
                  <a:t>3.5</a:t>
                </a: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1708916" y="208859"/>
              <a:ext cx="3582184" cy="673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Git Workflow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750075" y="5404827"/>
            <a:ext cx="4105819" cy="875264"/>
            <a:chOff x="0" y="0"/>
            <a:chExt cx="5474426" cy="1167018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1167018" cy="1167018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9735" lIns="59735" bIns="59735" rIns="59735"/>
              <a:lstStyle/>
              <a:p>
                <a:pPr algn="ctr">
                  <a:lnSpc>
                    <a:spcPts val="3359"/>
                  </a:lnSpc>
                </a:pPr>
                <a:r>
                  <a:rPr lang="en-US" b="true" sz="2399">
                    <a:solidFill>
                      <a:srgbClr val="FFFFFF"/>
                    </a:solidFill>
                    <a:latin typeface="Agrandir Bold"/>
                    <a:ea typeface="Agrandir Bold"/>
                    <a:cs typeface="Agrandir Bold"/>
                    <a:sym typeface="Agrandir Bold"/>
                  </a:rPr>
                  <a:t>5</a:t>
                </a: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1708916" y="208859"/>
              <a:ext cx="3765509" cy="673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Demo Stability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>
            <a:off x="1028700" y="9258300"/>
            <a:ext cx="16230600" cy="0"/>
          </a:xfrm>
          <a:prstGeom prst="line">
            <a:avLst/>
          </a:prstGeom>
          <a:ln cap="rnd" w="38100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1" id="31"/>
          <p:cNvSpPr/>
          <p:nvPr/>
        </p:nvSpPr>
        <p:spPr>
          <a:xfrm flipH="false" flipV="false" rot="-5400000">
            <a:off x="16415455" y="4361177"/>
            <a:ext cx="1369233" cy="903359"/>
          </a:xfrm>
          <a:custGeom>
            <a:avLst/>
            <a:gdLst/>
            <a:ahLst/>
            <a:cxnLst/>
            <a:rect r="r" b="b" t="t" l="l"/>
            <a:pathLst>
              <a:path h="903359" w="1369233">
                <a:moveTo>
                  <a:pt x="0" y="0"/>
                </a:moveTo>
                <a:lnTo>
                  <a:pt x="1369233" y="0"/>
                </a:lnTo>
                <a:lnTo>
                  <a:pt x="1369233" y="903359"/>
                </a:lnTo>
                <a:lnTo>
                  <a:pt x="0" y="9033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028700" y="4311402"/>
            <a:ext cx="1237259" cy="816288"/>
          </a:xfrm>
          <a:custGeom>
            <a:avLst/>
            <a:gdLst/>
            <a:ahLst/>
            <a:cxnLst/>
            <a:rect r="r" b="b" t="t" l="l"/>
            <a:pathLst>
              <a:path h="816288" w="1237259">
                <a:moveTo>
                  <a:pt x="0" y="0"/>
                </a:moveTo>
                <a:lnTo>
                  <a:pt x="1237259" y="0"/>
                </a:lnTo>
                <a:lnTo>
                  <a:pt x="1237259" y="816287"/>
                </a:lnTo>
                <a:lnTo>
                  <a:pt x="0" y="816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6508421" y="8082430"/>
            <a:ext cx="1822400" cy="911200"/>
          </a:xfrm>
          <a:custGeom>
            <a:avLst/>
            <a:gdLst/>
            <a:ahLst/>
            <a:cxnLst/>
            <a:rect r="r" b="b" t="t" l="l"/>
            <a:pathLst>
              <a:path h="911200" w="1822400">
                <a:moveTo>
                  <a:pt x="0" y="0"/>
                </a:moveTo>
                <a:lnTo>
                  <a:pt x="1822400" y="0"/>
                </a:lnTo>
                <a:lnTo>
                  <a:pt x="1822400" y="911200"/>
                </a:lnTo>
                <a:lnTo>
                  <a:pt x="0" y="9112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00419" y="1355194"/>
            <a:ext cx="6754304" cy="5024800"/>
            <a:chOff x="0" y="0"/>
            <a:chExt cx="993688" cy="7392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3688" cy="739245"/>
            </a:xfrm>
            <a:custGeom>
              <a:avLst/>
              <a:gdLst/>
              <a:ahLst/>
              <a:cxnLst/>
              <a:rect r="r" b="b" t="t" l="l"/>
              <a:pathLst>
                <a:path h="739245" w="993688">
                  <a:moveTo>
                    <a:pt x="57311" y="0"/>
                  </a:moveTo>
                  <a:lnTo>
                    <a:pt x="936377" y="0"/>
                  </a:lnTo>
                  <a:cubicBezTo>
                    <a:pt x="968029" y="0"/>
                    <a:pt x="993688" y="25659"/>
                    <a:pt x="993688" y="57311"/>
                  </a:cubicBezTo>
                  <a:lnTo>
                    <a:pt x="993688" y="681934"/>
                  </a:lnTo>
                  <a:cubicBezTo>
                    <a:pt x="993688" y="713586"/>
                    <a:pt x="968029" y="739245"/>
                    <a:pt x="936377" y="739245"/>
                  </a:cubicBezTo>
                  <a:lnTo>
                    <a:pt x="57311" y="739245"/>
                  </a:lnTo>
                  <a:cubicBezTo>
                    <a:pt x="42111" y="739245"/>
                    <a:pt x="27534" y="733207"/>
                    <a:pt x="16786" y="722459"/>
                  </a:cubicBezTo>
                  <a:cubicBezTo>
                    <a:pt x="6038" y="711711"/>
                    <a:pt x="0" y="697134"/>
                    <a:pt x="0" y="681934"/>
                  </a:cubicBezTo>
                  <a:lnTo>
                    <a:pt x="0" y="57311"/>
                  </a:lnTo>
                  <a:cubicBezTo>
                    <a:pt x="0" y="25659"/>
                    <a:pt x="25659" y="0"/>
                    <a:pt x="57311" y="0"/>
                  </a:cubicBezTo>
                  <a:close/>
                </a:path>
              </a:pathLst>
            </a:custGeom>
            <a:blipFill>
              <a:blip r:embed="rId2"/>
              <a:stretch>
                <a:fillRect l="-3487" t="-6145" r="-5634" b="-920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48411" y="5485987"/>
            <a:ext cx="4658319" cy="3112657"/>
            <a:chOff x="0" y="0"/>
            <a:chExt cx="1226882" cy="8197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26882" cy="819794"/>
            </a:xfrm>
            <a:custGeom>
              <a:avLst/>
              <a:gdLst/>
              <a:ahLst/>
              <a:cxnLst/>
              <a:rect r="r" b="b" t="t" l="l"/>
              <a:pathLst>
                <a:path h="819794" w="1226882">
                  <a:moveTo>
                    <a:pt x="49859" y="0"/>
                  </a:moveTo>
                  <a:lnTo>
                    <a:pt x="1177024" y="0"/>
                  </a:lnTo>
                  <a:cubicBezTo>
                    <a:pt x="1204560" y="0"/>
                    <a:pt x="1226882" y="22322"/>
                    <a:pt x="1226882" y="49859"/>
                  </a:cubicBezTo>
                  <a:lnTo>
                    <a:pt x="1226882" y="769936"/>
                  </a:lnTo>
                  <a:cubicBezTo>
                    <a:pt x="1226882" y="797472"/>
                    <a:pt x="1204560" y="819794"/>
                    <a:pt x="1177024" y="819794"/>
                  </a:cubicBezTo>
                  <a:lnTo>
                    <a:pt x="49859" y="819794"/>
                  </a:lnTo>
                  <a:cubicBezTo>
                    <a:pt x="22322" y="819794"/>
                    <a:pt x="0" y="797472"/>
                    <a:pt x="0" y="769936"/>
                  </a:cubicBezTo>
                  <a:lnTo>
                    <a:pt x="0" y="49859"/>
                  </a:lnTo>
                  <a:cubicBezTo>
                    <a:pt x="0" y="22322"/>
                    <a:pt x="22322" y="0"/>
                    <a:pt x="49859" y="0"/>
                  </a:cubicBezTo>
                  <a:close/>
                </a:path>
              </a:pathLst>
            </a:custGeom>
            <a:solidFill>
              <a:srgbClr val="2B2B2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226882" cy="886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579871" y="5966290"/>
            <a:ext cx="395400" cy="395400"/>
          </a:xfrm>
          <a:custGeom>
            <a:avLst/>
            <a:gdLst/>
            <a:ahLst/>
            <a:cxnLst/>
            <a:rect r="r" b="b" t="t" l="l"/>
            <a:pathLst>
              <a:path h="395400" w="395400">
                <a:moveTo>
                  <a:pt x="0" y="0"/>
                </a:moveTo>
                <a:lnTo>
                  <a:pt x="395400" y="0"/>
                </a:lnTo>
                <a:lnTo>
                  <a:pt x="395400" y="395400"/>
                </a:lnTo>
                <a:lnTo>
                  <a:pt x="0" y="395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38998" y="1485900"/>
            <a:ext cx="6658648" cy="208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Overall Project Rating</a:t>
            </a:r>
          </a:p>
        </p:txBody>
      </p:sp>
      <p:sp>
        <p:nvSpPr>
          <p:cNvPr name="AutoShape 9" id="9"/>
          <p:cNvSpPr/>
          <p:nvPr/>
        </p:nvSpPr>
        <p:spPr>
          <a:xfrm>
            <a:off x="1028700" y="9258300"/>
            <a:ext cx="16230600" cy="0"/>
          </a:xfrm>
          <a:prstGeom prst="line">
            <a:avLst/>
          </a:prstGeom>
          <a:ln cap="rnd" w="38100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-5400000">
            <a:off x="16417085" y="5509913"/>
            <a:ext cx="1369233" cy="903359"/>
          </a:xfrm>
          <a:custGeom>
            <a:avLst/>
            <a:gdLst/>
            <a:ahLst/>
            <a:cxnLst/>
            <a:rect r="r" b="b" t="t" l="l"/>
            <a:pathLst>
              <a:path h="903359" w="1369233">
                <a:moveTo>
                  <a:pt x="0" y="0"/>
                </a:moveTo>
                <a:lnTo>
                  <a:pt x="1369234" y="0"/>
                </a:lnTo>
                <a:lnTo>
                  <a:pt x="1369234" y="903359"/>
                </a:lnTo>
                <a:lnTo>
                  <a:pt x="0" y="9033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10071" y="7940510"/>
            <a:ext cx="1237259" cy="816288"/>
          </a:xfrm>
          <a:custGeom>
            <a:avLst/>
            <a:gdLst/>
            <a:ahLst/>
            <a:cxnLst/>
            <a:rect r="r" b="b" t="t" l="l"/>
            <a:pathLst>
              <a:path h="816288" w="1237259">
                <a:moveTo>
                  <a:pt x="0" y="0"/>
                </a:moveTo>
                <a:lnTo>
                  <a:pt x="1237258" y="0"/>
                </a:lnTo>
                <a:lnTo>
                  <a:pt x="1237258" y="816288"/>
                </a:lnTo>
                <a:lnTo>
                  <a:pt x="0" y="8162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577114" y="2782854"/>
            <a:ext cx="1822400" cy="911200"/>
          </a:xfrm>
          <a:custGeom>
            <a:avLst/>
            <a:gdLst/>
            <a:ahLst/>
            <a:cxnLst/>
            <a:rect r="r" b="b" t="t" l="l"/>
            <a:pathLst>
              <a:path h="911200" w="1822400">
                <a:moveTo>
                  <a:pt x="0" y="0"/>
                </a:moveTo>
                <a:lnTo>
                  <a:pt x="1822399" y="0"/>
                </a:lnTo>
                <a:lnTo>
                  <a:pt x="1822399" y="911200"/>
                </a:lnTo>
                <a:lnTo>
                  <a:pt x="0" y="911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3" id="13"/>
          <p:cNvGrpSpPr/>
          <p:nvPr/>
        </p:nvGrpSpPr>
        <p:grpSpPr>
          <a:xfrm rot="0">
            <a:off x="2138998" y="4593404"/>
            <a:ext cx="5146916" cy="2555754"/>
            <a:chOff x="0" y="0"/>
            <a:chExt cx="6862554" cy="3407672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653035" cy="611730"/>
              <a:chOff x="0" y="0"/>
              <a:chExt cx="867682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676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67682">
                    <a:moveTo>
                      <a:pt x="433841" y="0"/>
                    </a:moveTo>
                    <a:cubicBezTo>
                      <a:pt x="194237" y="0"/>
                      <a:pt x="0" y="181951"/>
                      <a:pt x="0" y="406400"/>
                    </a:cubicBezTo>
                    <a:cubicBezTo>
                      <a:pt x="0" y="630849"/>
                      <a:pt x="194237" y="812800"/>
                      <a:pt x="433841" y="812800"/>
                    </a:cubicBezTo>
                    <a:cubicBezTo>
                      <a:pt x="673445" y="812800"/>
                      <a:pt x="867682" y="630849"/>
                      <a:pt x="867682" y="406400"/>
                    </a:cubicBezTo>
                    <a:cubicBezTo>
                      <a:pt x="867682" y="181951"/>
                      <a:pt x="673445" y="0"/>
                      <a:pt x="433841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81345" y="-9525"/>
                <a:ext cx="704992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1055010" y="38106"/>
              <a:ext cx="5807544" cy="468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All sprints completed</a:t>
              </a:r>
            </a:p>
          </p:txBody>
        </p:sp>
        <p:grpSp>
          <p:nvGrpSpPr>
            <p:cNvPr name="Group 18" id="18"/>
            <p:cNvGrpSpPr/>
            <p:nvPr/>
          </p:nvGrpSpPr>
          <p:grpSpPr>
            <a:xfrm rot="0">
              <a:off x="0" y="1397971"/>
              <a:ext cx="600131" cy="611730"/>
              <a:chOff x="0" y="0"/>
              <a:chExt cx="797389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79738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97389">
                    <a:moveTo>
                      <a:pt x="398694" y="0"/>
                    </a:moveTo>
                    <a:cubicBezTo>
                      <a:pt x="178502" y="0"/>
                      <a:pt x="0" y="181951"/>
                      <a:pt x="0" y="406400"/>
                    </a:cubicBezTo>
                    <a:cubicBezTo>
                      <a:pt x="0" y="630849"/>
                      <a:pt x="178502" y="812800"/>
                      <a:pt x="398694" y="812800"/>
                    </a:cubicBezTo>
                    <a:cubicBezTo>
                      <a:pt x="618887" y="812800"/>
                      <a:pt x="797389" y="630849"/>
                      <a:pt x="797389" y="406400"/>
                    </a:cubicBezTo>
                    <a:cubicBezTo>
                      <a:pt x="797389" y="181951"/>
                      <a:pt x="618887" y="0"/>
                      <a:pt x="398694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4755" y="-9525"/>
                <a:ext cx="647879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950803" y="1436078"/>
              <a:ext cx="5893013" cy="468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Extra AI features implemented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988279" y="2599099"/>
              <a:ext cx="5874275" cy="468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Scalable Architecture</a:t>
              </a:r>
            </a:p>
          </p:txBody>
        </p:sp>
        <p:grpSp>
          <p:nvGrpSpPr>
            <p:cNvPr name="Group 23" id="23"/>
            <p:cNvGrpSpPr/>
            <p:nvPr/>
          </p:nvGrpSpPr>
          <p:grpSpPr>
            <a:xfrm rot="0">
              <a:off x="0" y="2795942"/>
              <a:ext cx="611730" cy="611730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</p:grpSp>
      <p:sp>
        <p:nvSpPr>
          <p:cNvPr name="TextBox 26" id="26"/>
          <p:cNvSpPr txBox="true"/>
          <p:nvPr/>
        </p:nvSpPr>
        <p:spPr>
          <a:xfrm rot="0">
            <a:off x="11199294" y="7116488"/>
            <a:ext cx="3156554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We believe that our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project delivers a real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production-level system.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728868" y="5775585"/>
            <a:ext cx="2097405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9.2/10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DAG6DLhrsZo</dc:identifier>
  <dcterms:modified xsi:type="dcterms:W3CDTF">2011-08-01T06:04:30Z</dcterms:modified>
  <cp:revision>1</cp:revision>
  <dc:title>Red and Yellow Simple Reading Pitch Deck Presentation</dc:title>
</cp:coreProperties>
</file>